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0938" y="428625"/>
            <a:ext cx="12144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VER_2026.05.SENTINEL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714375" y="714375"/>
            <a:ext cx="7715250" cy="23619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714375"/>
            <a:ext cx="71438" cy="236198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1000125" y="1058977"/>
            <a:ext cx="7429500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SENTINEL: THE ESSENTIAL IP MOAT FOR MACHINE VISION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1000125" y="2390561"/>
            <a:ext cx="5715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Achieving 50 to 65 percent reduction in satellite bandwidth for remote industrial cameras.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14375" y="4230886"/>
            <a:ext cx="1975247" cy="31253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4230886"/>
            <a:ext cx="1975247" cy="312539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SEED ROUND: $2,000,000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4994" y="4204097"/>
            <a:ext cx="2764631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PREETAM MUKHERJEE &amp; SOUMYAJIT MANDAL</a:t>
            </a:r>
            <a:r>
              <a:rPr lang="en-US" sz="95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
</a:t>
            </a:r>
            <a:r>
              <a:rPr lang="en-US" sz="95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CO-FOUNDERS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137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856106"/>
            <a:ext cx="7715250" cy="9822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1802653"/>
            <a:ext cx="7715250" cy="35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56106"/>
            <a:ext cx="7715250" cy="9822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BANDWIDTH BARRIER IN REMOTE INDUSTRIAL SITES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14375" y="2088403"/>
            <a:ext cx="3714750" cy="7543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Offshore oil rigs and pipeline sites typically operate between 10 and 40 cameras simultaneously.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14375" y="2957066"/>
            <a:ext cx="3714750" cy="7543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codecs prioritize human visual perception over machine analytical requirements.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4375" y="3825729"/>
            <a:ext cx="3714750" cy="502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 percent of industrial video feeds directly into machine vision models for analysis.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14375" y="4442938"/>
            <a:ext cx="3714750" cy="502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Operators pay for high-resolution pixels that machine models do not require for accuracy.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14875" y="2088403"/>
            <a:ext cx="3714750" cy="2971744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72113" y="2907227"/>
            <a:ext cx="2200275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$10,000+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5722144" y="3553737"/>
            <a:ext cx="17002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spc="2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MBPS PER MONTH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857750" y="3930569"/>
            <a:ext cx="34290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 bandwidth expenses remain the primary constraint for remote video surveillance.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14375" y="5060147"/>
            <a:ext cx="7715250" cy="27503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ANALYSIS_REF: INDUSTRIAL_VIDEO_ECONOMICS_2026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1303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856106"/>
            <a:ext cx="7715250" cy="9822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1802653"/>
            <a:ext cx="7715250" cy="35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56106"/>
            <a:ext cx="7715250" cy="9822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DUAL-LAYER SVC: OPTIMIZED FOR MACHINE VISION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721519" y="1981247"/>
            <a:ext cx="35719" cy="10629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778669" y="2038397"/>
            <a:ext cx="434624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LEARNED VIDEO CODEC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8669" y="2386989"/>
            <a:ext cx="43462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~50–65% bitrate reduction while preserving full analytical precision.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21519" y="3144227"/>
            <a:ext cx="35719" cy="10629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778669" y="3201377"/>
            <a:ext cx="434624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DUAL-LAYER SCALABLE CODING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8669" y="3549969"/>
            <a:ext cx="43462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Low-res human thumbnails plus feature-optimized AI streams delivered concurrently.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21519" y="4307207"/>
            <a:ext cx="35719" cy="834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778669" y="4364357"/>
            <a:ext cx="434624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EDGE-NATIVE DEPLOYMENT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8669" y="4712950"/>
            <a:ext cx="43462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on Jetson Orin NX for local execution and low latency.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46396" y="2074115"/>
            <a:ext cx="278321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ARCHITECTURE_DIAGRAM: SVC_01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546396" y="2292000"/>
            <a:ext cx="1168422" cy="500063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46396" y="2292000"/>
            <a:ext cx="1168422" cy="50006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LAYER 1: HUMAN PREVIEW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785335" y="2424159"/>
            <a:ext cx="171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042510" y="2292000"/>
            <a:ext cx="1287103" cy="471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7042510" y="2292000"/>
            <a:ext cx="1287103" cy="47148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LAYER 2: MACHINE FEATURES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546396" y="2849212"/>
            <a:ext cx="2783216" cy="292894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Dual-layer ensures operator awareness while delivering precise data for detection.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2478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856106"/>
            <a:ext cx="7715250" cy="5447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1365098"/>
            <a:ext cx="7715250" cy="35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56106"/>
            <a:ext cx="7715250" cy="5447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VALIDATED PERFORMANCE ON EDGE HARDWARE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714375" y="1579411"/>
            <a:ext cx="1317687" cy="4786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579411"/>
            <a:ext cx="1317687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CODEC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2032062" y="1579411"/>
            <a:ext cx="997502" cy="4786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2032062" y="1579411"/>
            <a:ext cx="997502" cy="478631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BITRATE (KBPS)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3029564" y="1579411"/>
            <a:ext cx="1111579" cy="4786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3029564" y="1579411"/>
            <a:ext cx="1111579" cy="478631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MAP ACCURACY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141143" y="1579411"/>
            <a:ext cx="1030932" cy="4786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4141143" y="1579411"/>
            <a:ext cx="1030932" cy="478631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HARDWARE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14375" y="2058042"/>
            <a:ext cx="1317687" cy="55721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H.265 Reference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032062" y="2058042"/>
            <a:ext cx="997502" cy="557213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1000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029564" y="2058042"/>
            <a:ext cx="1111579" cy="557213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0.91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141143" y="2058042"/>
            <a:ext cx="1030932" cy="557213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Jetson Orin NX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14375" y="2615254"/>
            <a:ext cx="4457700" cy="5607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6"/>
          <p:cNvSpPr/>
          <p:nvPr/>
        </p:nvSpPr>
        <p:spPr>
          <a:xfrm>
            <a:off x="714375" y="2615254"/>
            <a:ext cx="1317687" cy="56078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Sentinel Codec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032062" y="2615254"/>
            <a:ext cx="997502" cy="560784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380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029564" y="2615254"/>
            <a:ext cx="1111579" cy="560784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0.90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141143" y="2615254"/>
            <a:ext cx="1030932" cy="560784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Jetson Orin NX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14375" y="3176039"/>
            <a:ext cx="1317687" cy="56078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Performance Delta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139218" y="3293911"/>
            <a:ext cx="610791" cy="344686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62% Reduction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029564" y="3176039"/>
            <a:ext cx="1111579" cy="560784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Negligible 1%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141143" y="3176039"/>
            <a:ext cx="1030932" cy="560784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Same BOM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14375" y="3954707"/>
            <a:ext cx="4457700" cy="41143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performance exceeds 30 frames per second on standard Jetson modules.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14375" y="4451868"/>
            <a:ext cx="4457700" cy="41143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conducted using industrial surveillance datasets for object detection.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14375" y="4949028"/>
            <a:ext cx="4457700" cy="41143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readiness includes a functional prototype with a scalable bill of materials.</a:t>
            </a:r>
            <a:endParaRPr lang="en-US" sz="9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988" y="1736573"/>
            <a:ext cx="2657475" cy="22860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457825" y="4322611"/>
            <a:ext cx="2971800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DATA_SOURCE: INTERNAL_BENCHMARK_V2.4</a:t>
            </a:r>
            <a:r>
              <a:rPr lang="en-US" sz="60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
</a:t>
            </a:r>
            <a:r>
              <a:rPr lang="en-US" sz="60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TEST_ENVIRONMENT: NVIDIA_JETSON_ORIN_NX_16GB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856106"/>
            <a:ext cx="8286750" cy="5447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365098"/>
            <a:ext cx="8286750" cy="35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856106"/>
            <a:ext cx="8286750" cy="5447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THREE-PHASE IP MOAT STRATEGY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57213" y="1779436"/>
            <a:ext cx="240981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PHASE 1: MONTHS 0 TO 18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57213" y="1968745"/>
            <a:ext cx="240981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HARDWARE DEPLOYMENT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7213" y="2388775"/>
            <a:ext cx="2409816" cy="385763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Lease Sentinel Gateway edge appliances to industrial partners.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57213" y="2903125"/>
            <a:ext cx="2409816" cy="385763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initial revenue streams and real-world performance data.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367078" y="1779436"/>
            <a:ext cx="240981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PHASE 2: MONTHS 12 TO 30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367078" y="1968745"/>
            <a:ext cx="240981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PATENT PORTFOLIO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67078" y="2388775"/>
            <a:ext cx="2409816" cy="385763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defensible patents for dual-layer SVC in machine vision.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367078" y="2903125"/>
            <a:ext cx="2409816" cy="385763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 with the MPEG VCM working group as a technical contributor.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76944" y="1779436"/>
            <a:ext cx="240984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PHASE 3: MONTHS 24 TO 60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176944" y="1968745"/>
            <a:ext cx="240984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IP LICENSING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76944" y="2388775"/>
            <a:ext cx="2409844" cy="385763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 to high-margin licensing for OEMs and chip manufacturers.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76944" y="2903125"/>
            <a:ext cx="2409844" cy="385763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 zero COGS through software-defined IP integration.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8625" y="3560350"/>
            <a:ext cx="8286750" cy="33575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3560350"/>
            <a:ext cx="82867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3560350"/>
            <a:ext cx="8286750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STRATEGY_OBJECTIVE: TRANSITION FROM HARDWARE DELIVERY TO PURE IP LICENSING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856106"/>
            <a:ext cx="7715250" cy="5447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1365098"/>
            <a:ext cx="7715250" cy="35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56106"/>
            <a:ext cx="7715250" cy="5447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TARGETING HIGH-VALUE INDUSTRIAL SEGMENTS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714375" y="1579411"/>
            <a:ext cx="2369939" cy="346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579411"/>
            <a:ext cx="2369939" cy="34647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MARKET SEGMENT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3084314" y="1579411"/>
            <a:ext cx="1344811" cy="346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3084314" y="1579411"/>
            <a:ext cx="1344811" cy="34647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PROJECTED VALUE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14375" y="1925882"/>
            <a:ext cx="2369939" cy="743648"/>
          </a:xfrm>
          <a:prstGeom prst="rect">
            <a:avLst/>
          </a:prstGeom>
          <a:noFill/>
          <a:ln/>
        </p:spPr>
        <p:txBody>
          <a:bodyPr wrap="square" lIns="127508" tIns="170053" rIns="127508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TAM: Global Video Surveillance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084314" y="1925882"/>
            <a:ext cx="1344811" cy="743648"/>
          </a:xfrm>
          <a:prstGeom prst="rect">
            <a:avLst/>
          </a:prstGeom>
          <a:noFill/>
          <a:ln/>
        </p:spPr>
        <p:txBody>
          <a:bodyPr wrap="square" lIns="127508" tIns="170053" rIns="127508" bIns="170053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$162.4B (2035)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4375" y="2669530"/>
            <a:ext cx="2369939" cy="747889"/>
          </a:xfrm>
          <a:prstGeom prst="rect">
            <a:avLst/>
          </a:prstGeom>
          <a:noFill/>
          <a:ln/>
        </p:spPr>
        <p:txBody>
          <a:bodyPr wrap="square" lIns="127508" tIns="170053" rIns="127508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SAM: Remote Industrial Surveillance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084314" y="2669530"/>
            <a:ext cx="1344811" cy="747889"/>
          </a:xfrm>
          <a:prstGeom prst="rect">
            <a:avLst/>
          </a:prstGeom>
          <a:noFill/>
          <a:ln/>
        </p:spPr>
        <p:txBody>
          <a:bodyPr wrap="square" lIns="127508" tIns="170053" rIns="127508" bIns="170053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$5B to $8B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4375" y="3417419"/>
            <a:ext cx="2369939" cy="747917"/>
          </a:xfrm>
          <a:prstGeom prst="rect">
            <a:avLst/>
          </a:prstGeom>
          <a:noFill/>
          <a:ln/>
        </p:spPr>
        <p:txBody>
          <a:bodyPr wrap="square" lIns="127508" tIns="170053" rIns="127508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SOM: Initial Seed Target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084314" y="3417419"/>
            <a:ext cx="1344811" cy="747917"/>
          </a:xfrm>
          <a:prstGeom prst="rect">
            <a:avLst/>
          </a:prstGeom>
          <a:noFill/>
          <a:ln/>
        </p:spPr>
        <p:txBody>
          <a:bodyPr wrap="square" lIns="127508" tIns="170053" rIns="127508" bIns="170053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$120K to $360K ARR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14875" y="1579411"/>
            <a:ext cx="3714750" cy="2589498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29188" y="1793723"/>
            <a:ext cx="32861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STRATEGIC FOCUS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29188" y="2247351"/>
            <a:ext cx="3286125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focus on remote industrial sites where satellite backhaul costs reach $10,000 per Mbps monthly. These operators demonstrate a high willingness to pay for bandwidth reduction solutions that preserve analytical precision.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929188" y="3547402"/>
            <a:ext cx="3286125" cy="37861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GOAL: 10 to 20 gateways deployed with 5 design partners.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714375" y="4725591"/>
            <a:ext cx="7715250" cy="27503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MARKET_DATA_REF: GLOBAL_SURVEILLANCE_CAGR_10.1%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856106"/>
            <a:ext cx="7715250" cy="9822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1802653"/>
            <a:ext cx="7715250" cy="35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56106"/>
            <a:ext cx="7715250" cy="9822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MARKET PROOF POINTS AND DEVELOPMENT STATUS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728663" y="2031253"/>
            <a:ext cx="903936" cy="32146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728663" y="2031253"/>
            <a:ext cx="903936" cy="321469"/>
          </a:xfrm>
          <a:prstGeom prst="rect">
            <a:avLst/>
          </a:prstGeom>
          <a:noFill/>
          <a:ln/>
        </p:spPr>
        <p:txBody>
          <a:bodyPr wrap="non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COMPARABLE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632598" y="2031253"/>
            <a:ext cx="2782239" cy="32146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1632598" y="2031253"/>
            <a:ext cx="2782239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MARKET VALIDATION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5819" y="2528636"/>
            <a:ext cx="51613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Videosoft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32598" y="2352722"/>
            <a:ext cx="2782239" cy="4929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commercialized video compression for satellite backhaul.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35819" y="2956368"/>
            <a:ext cx="38397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Render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632598" y="2845640"/>
            <a:ext cx="2782239" cy="4964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Secured $9M Series A for AI-based codecs without commercial deployments.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35819" y="3521618"/>
            <a:ext cx="56614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EverFocus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632598" y="3342131"/>
            <a:ext cx="2782239" cy="4964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a viable market for Jetson-based AI gateways.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35819" y="4018108"/>
            <a:ext cx="58400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InterDigital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632598" y="3838622"/>
            <a:ext cx="2782239" cy="4964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$549M annually through strategic codec IP licensing.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714875" y="2016965"/>
            <a:ext cx="3714750" cy="2575322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29188" y="2231278"/>
            <a:ext cx="3286125" cy="30360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CURRENT STATUS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29188" y="2677762"/>
            <a:ext cx="30718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[OK]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343525" y="2677762"/>
            <a:ext cx="287178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delivers 30+ fps on Jetson Orin NX hardware.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929188" y="3095672"/>
            <a:ext cx="30718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[OK]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3525" y="3095672"/>
            <a:ext cx="287178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Benchmarks confirm 62 percent bitrate reduction.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929188" y="3513581"/>
            <a:ext cx="30718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[&gt;&gt;]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343525" y="3513581"/>
            <a:ext cx="287178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initiated with two VSAT providers and one oil operator.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929188" y="3931490"/>
            <a:ext cx="30718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[&gt;&gt;]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343525" y="3931490"/>
            <a:ext cx="287178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Patent filing strategy in progress for dual-layer SVC.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14375" y="4725591"/>
            <a:ext cx="7715250" cy="27503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MILESTONE_REPORT: Q2_2026_VALIDATION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856106"/>
            <a:ext cx="7715250" cy="9822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1802653"/>
            <a:ext cx="7715250" cy="35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56106"/>
            <a:ext cx="7715250" cy="9822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STRATEGIC ENGAGEMENT WITH MPEG STANDARDS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965368" y="2166984"/>
            <a:ext cx="1268350" cy="873826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65368" y="2166984"/>
            <a:ext cx="1268350" cy="873826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HUMAN VIEWING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233719" y="2166984"/>
            <a:ext cx="1188262" cy="873826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33719" y="2166984"/>
            <a:ext cx="1188262" cy="873826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MACHINE VISION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21519" y="3034168"/>
            <a:ext cx="1244212" cy="877649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1519" y="3034168"/>
            <a:ext cx="1244212" cy="877649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STANDARDS BASED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1490" y="3034168"/>
            <a:ext cx="1269829" cy="877649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H.264, H.265, AV1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231319" y="3034168"/>
            <a:ext cx="1190662" cy="877649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MPEG VCM (2027)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21519" y="3911817"/>
            <a:ext cx="1239971" cy="658257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1519" y="3911817"/>
            <a:ext cx="1239971" cy="658257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PROPRIETARY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59955" y="3911817"/>
            <a:ext cx="1270750" cy="658257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Deep Render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30705" y="3911817"/>
            <a:ext cx="1191276" cy="658257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30705" y="3911817"/>
            <a:ext cx="1191276" cy="658257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SENTINEL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714875" y="2159840"/>
            <a:ext cx="3714750" cy="73435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14875" y="2159840"/>
            <a:ext cx="57150" cy="72006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8"/>
          <p:cNvSpPr/>
          <p:nvPr/>
        </p:nvSpPr>
        <p:spPr>
          <a:xfrm>
            <a:off x="4822031" y="2266997"/>
            <a:ext cx="35004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PATENT STRATEGY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22031" y="2452734"/>
            <a:ext cx="35004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Filing patents immediately for dual-layer SVC and machine feature coding.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14875" y="2987064"/>
            <a:ext cx="3714750" cy="73435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14875" y="2987064"/>
            <a:ext cx="57150" cy="72006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5" name="Text 22"/>
          <p:cNvSpPr/>
          <p:nvPr/>
        </p:nvSpPr>
        <p:spPr>
          <a:xfrm>
            <a:off x="4822031" y="3094220"/>
            <a:ext cx="35004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STANDARD CONTRIBUTION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822031" y="3279958"/>
            <a:ext cx="35004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Engaging with the MPEG VCM working group to secure essential IP status.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714875" y="3814288"/>
            <a:ext cx="3714750" cy="73435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14875" y="3814288"/>
            <a:ext cx="57150" cy="72006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9" name="Text 26"/>
          <p:cNvSpPr/>
          <p:nvPr/>
        </p:nvSpPr>
        <p:spPr>
          <a:xfrm>
            <a:off x="4822031" y="3921444"/>
            <a:ext cx="35004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MARKET POSITIONING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822031" y="4107182"/>
            <a:ext cx="35004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 proprietary moat before standardization completes to license back into the industry.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14375" y="4654153"/>
            <a:ext cx="7715250" cy="346472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STRATEGY_REF: STANDARDS_ENGAGEMENT_V1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758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856106"/>
            <a:ext cx="7715250" cy="9822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1802653"/>
            <a:ext cx="7715250" cy="35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56106"/>
            <a:ext cx="7715250" cy="9822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DEEP TECH LEADERSHIP AND INDUSTRY EXPERTISE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714375" y="2088403"/>
            <a:ext cx="3643313" cy="2532683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28688" y="2302715"/>
            <a:ext cx="3214688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PREETAM MUKHERJEE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28688" y="2593823"/>
            <a:ext cx="321468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CO-FOUNDER &amp; CEO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28688" y="2886717"/>
            <a:ext cx="3214688" cy="41143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a SaaS video platform from initial product to revenue generation.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28688" y="3383877"/>
            <a:ext cx="3214688" cy="41143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Conducted research at UC Berkeley on novel video representations.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28688" y="3881038"/>
            <a:ext cx="3214688" cy="41143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Possesses deep understanding of video economics and industrial deployment constraints.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86313" y="2088403"/>
            <a:ext cx="3643313" cy="2532683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00625" y="2302715"/>
            <a:ext cx="3214688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SOUMYAJIT MANDAL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00625" y="2593823"/>
            <a:ext cx="321468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CO-FOUNDER &amp; CTO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000625" y="2886717"/>
            <a:ext cx="3214688" cy="41143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Holds a PhD from MIT with a focus on signal processing and information theory.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00625" y="3383877"/>
            <a:ext cx="3214688" cy="41143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real-time sensor networks and edge systems at Brookhaven National Laboratory.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00625" y="3881038"/>
            <a:ext cx="3214688" cy="41143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in codec optimization for Jetson hardware and MPEG standards engagement.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14375" y="4592510"/>
            <a:ext cx="7715250" cy="417909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TEAM_CAPABILITY: HYBRID EXPERTISE IN VIDEO RESEARCH AND EDGE OPERATIONS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856106"/>
            <a:ext cx="7715250" cy="5447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1365098"/>
            <a:ext cx="7715250" cy="35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56106"/>
            <a:ext cx="7715250" cy="5447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CAPITAL ALLOCATION FOR 18-MONTH RUNWAY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14375" y="1579411"/>
            <a:ext cx="3714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USE OF FUNDS ($2.0M)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717947" y="1822298"/>
            <a:ext cx="2388189" cy="32504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17947" y="1822298"/>
            <a:ext cx="2388189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CATEGORY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106136" y="1822298"/>
            <a:ext cx="1319417" cy="32504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106136" y="1822298"/>
            <a:ext cx="1319417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ALLOCATION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7947" y="2147339"/>
            <a:ext cx="2388189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Codec Engineering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106136" y="2147339"/>
            <a:ext cx="1319417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40% ($800K)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17947" y="2472379"/>
            <a:ext cx="2388189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Patents &amp; Standards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106136" y="2472379"/>
            <a:ext cx="1319417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25% ($500K)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17947" y="2800992"/>
            <a:ext cx="2388189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Hardware Deployment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106136" y="2800992"/>
            <a:ext cx="1319417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20% ($400K)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17947" y="3129604"/>
            <a:ext cx="2388189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GTM &amp; Channel Partners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106136" y="3129604"/>
            <a:ext cx="1319417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15% ($300K)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714875" y="1579411"/>
            <a:ext cx="3714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KEY MILESTONES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714875" y="1818726"/>
            <a:ext cx="3714750" cy="29289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4714875" y="1818726"/>
            <a:ext cx="28575" cy="2928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4822031" y="1890164"/>
            <a:ext cx="571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M3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93531" y="1890164"/>
            <a:ext cx="29289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5 design partner LOIs.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14875" y="2197345"/>
            <a:ext cx="3714750" cy="29289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4714875" y="2197345"/>
            <a:ext cx="28575" cy="2928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4822031" y="2268782"/>
            <a:ext cx="571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M9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393531" y="2268782"/>
            <a:ext cx="29289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3 provisional patents for dual-layer SVC.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714875" y="2575964"/>
            <a:ext cx="3714750" cy="29289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Shape 26"/>
          <p:cNvSpPr/>
          <p:nvPr/>
        </p:nvSpPr>
        <p:spPr>
          <a:xfrm>
            <a:off x="4714875" y="2575964"/>
            <a:ext cx="28575" cy="2928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4822031" y="2647401"/>
            <a:ext cx="571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M12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393531" y="2647401"/>
            <a:ext cx="29289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5 gateways to design partners.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714875" y="2954582"/>
            <a:ext cx="3714750" cy="41790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Shape 30"/>
          <p:cNvSpPr/>
          <p:nvPr/>
        </p:nvSpPr>
        <p:spPr>
          <a:xfrm>
            <a:off x="4714875" y="2954582"/>
            <a:ext cx="28575" cy="41790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4822031" y="3026020"/>
            <a:ext cx="571500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M18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393531" y="3026020"/>
            <a:ext cx="292893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 to paid customers and active MPEG engagement.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14375" y="4725591"/>
            <a:ext cx="7715250" cy="27503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FINANCIAL_PLAN_ID: SEED_ALLOCATION_2026_V1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689511"/>
            <a:ext cx="7715250" cy="4929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1146711"/>
            <a:ext cx="7715250" cy="35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689511"/>
            <a:ext cx="7715250" cy="49291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INVESTMENT OPPORTUNITY AND STRATEGIC EXIT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714375" y="1318161"/>
            <a:ext cx="3017509" cy="20466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1461036"/>
            <a:ext cx="273175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SEED ROUND ASK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57250" y="1621771"/>
            <a:ext cx="2731759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$2,000,000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7250" y="1962885"/>
            <a:ext cx="273175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VALUATION RANGE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57250" y="2123619"/>
            <a:ext cx="2731759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$8M to $10M Pre-money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7250" y="2464733"/>
            <a:ext cx="273175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TARGET INVESTORS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57250" y="2625468"/>
            <a:ext cx="2731759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Deep Tech &amp; Industrial Funds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906906" y="1321733"/>
            <a:ext cx="1203610" cy="403622"/>
          </a:xfrm>
          <a:prstGeom prst="rect">
            <a:avLst/>
          </a:prstGeom>
          <a:solidFill>
            <a:srgbClr val="F5F5F5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06906" y="1321733"/>
            <a:ext cx="1203610" cy="40362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ACQUIRER CATEGORY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107698" y="1321733"/>
            <a:ext cx="3318356" cy="400050"/>
          </a:xfrm>
          <a:prstGeom prst="rect">
            <a:avLst/>
          </a:prstGeom>
          <a:solidFill>
            <a:srgbClr val="F5F5F5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07698" y="1321733"/>
            <a:ext cx="3318356" cy="400050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STRATEGIC RATIONALE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981915" y="1778933"/>
            <a:ext cx="7286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OEMs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104935" y="1718211"/>
            <a:ext cx="3321118" cy="37861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of machine-vision codecs into next-generation hardware.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981915" y="2157552"/>
            <a:ext cx="10036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Chip Manufacturers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104935" y="2096830"/>
            <a:ext cx="3321118" cy="25003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Acquisition of learned codec IP for ISP and encoder silicon.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981915" y="2407583"/>
            <a:ext cx="89832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Satcom Providers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104935" y="2346861"/>
            <a:ext cx="3321118" cy="25003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Bundling bandwidth efficiency with existing satellite services.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981915" y="2657615"/>
            <a:ext cx="9840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Patent Aggregators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104935" y="2596893"/>
            <a:ext cx="3321118" cy="25003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acquisition of essential codec IP portfolios.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903334" y="2936221"/>
            <a:ext cx="4526291" cy="25181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PRECEDENT: InterDigital acquired Technicolor video patents for $150M in 2019.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714375" y="4697016"/>
            <a:ext cx="7715250" cy="303609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FINANCIAL_STRATEGY: EXIT_VIA_IP_LICENSING_OR_ACQUISITION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856106"/>
            <a:ext cx="7715250" cy="5447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1365098"/>
            <a:ext cx="7715250" cy="35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56106"/>
            <a:ext cx="7715250" cy="5447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DEFINING THE MACHINE VISION STANDARD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14375" y="1650848"/>
            <a:ext cx="3643313" cy="44001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Machines analyze 95 percent of video today using codecs designed for human eyes.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14375" y="2262308"/>
            <a:ext cx="3643313" cy="44001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industrial sites pay for bandwidth they do not require for analytical accuracy.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4375" y="2873769"/>
            <a:ext cx="3643313" cy="44001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Sentinel is building the essential IP portfolio for the next generation of machine vision.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14375" y="3485229"/>
            <a:ext cx="3643313" cy="44001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team combines deep technical research with practical edge deployment expertise.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86313" y="1650848"/>
            <a:ext cx="3643313" cy="2646118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72063" y="2024695"/>
            <a:ext cx="3071813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JOIN THE VISION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72063" y="2565834"/>
            <a:ext cx="307181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CONTACT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072063" y="2776212"/>
            <a:ext cx="130552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Preetam Mukherjee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72063" y="3007658"/>
            <a:ext cx="12287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Soumyajit Mandal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72063" y="3280181"/>
            <a:ext cx="307181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RESOURCES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072063" y="3490559"/>
            <a:ext cx="844748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sentinel.ai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72063" y="3722005"/>
            <a:ext cx="222706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linkedin.com/company/sentinel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14375" y="4296966"/>
            <a:ext cx="7715250" cy="703659"/>
          </a:xfrm>
          <a:prstGeom prst="rect">
            <a:avLst/>
          </a:prstGeom>
          <a:noFill/>
          <a:ln/>
        </p:spPr>
        <p:txBody>
          <a:bodyPr wrap="square" lIns="0" tIns="340233" rIns="0" bIns="340233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SENTINEL_PITCH_DECK_2026 // END_OF_TRANSMISSION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2026-05-25T08:15:00Z</dcterms:created>
  <dcterms:modified xsi:type="dcterms:W3CDTF">2026-05-25T08:15:00Z</dcterms:modified>
</cp:coreProperties>
</file>