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26109" y="1919632"/>
            <a:ext cx="5691783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-2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MAHAMAIA SYSTEMS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1714500" y="3057274"/>
            <a:ext cx="5715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Compression Infrastructure and Evaluation Standards for Machine-Oriented Video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337024" y="4552355"/>
            <a:ext cx="246995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 ROUND PITCH DECK |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Structural Failure of Modern Video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758004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HUMAN-CENTRIC LEGACY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079473"/>
            <a:ext cx="37147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Optimized for the Wrong Consumer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1500" y="2463450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codecs (H.264/H.265) were built to produce "beautiful pixels" for human eyes. Machine perception systems don't need pixels; they need semantic structure.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516371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SCALING PROBLEM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71500" y="3837840"/>
            <a:ext cx="37147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Review Crisis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" y="4221817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Surveillance generates more footage than humans can ever review. Machine perception is the only viable model at scale, yet the stack remains human-centric.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857750" y="1758004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STRUCTURAL MISMATCH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857750" y="2079473"/>
            <a:ext cx="37147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Bitrate vs. Accuracy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57750" y="2463450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camera in every surveillance deployment today is compressing video the wrong way for its actual consumer—the GPU.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57750" y="3294915"/>
            <a:ext cx="3714750" cy="1728788"/>
          </a:xfrm>
          <a:prstGeom prst="rect">
            <a:avLst/>
          </a:prstGeom>
          <a:solidFill>
            <a:srgbClr val="2D5BFF">
              <a:alpha val="5000"/>
            </a:srgbClr>
          </a:solidFill>
          <a:ln w="9144">
            <a:solidFill>
              <a:srgbClr val="2D5BFF">
                <a:alpha val="20000"/>
              </a:srgbClr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166996" y="4043223"/>
            <a:ext cx="309625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PIXEL FIDELITY ≠ SEMANTIC ACCURACY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Why Now? The Convergence of Three Forces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122336"/>
            <a:ext cx="24288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STANDARDIZATION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420587"/>
            <a:ext cx="24288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MPEG VCM Formalization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740605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ISO/IEC is actively standardizing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machine-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oriented video coding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Compliance will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become mandatory for all camera and VMS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vendors.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357563" y="2122336"/>
            <a:ext cx="24288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REGULATION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57563" y="2420587"/>
            <a:ext cx="24288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EU AI Act Enforcement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57563" y="2740605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AI systems now require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technical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documentation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task accuracy and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privacy. LeWM-Eval provides the missing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43625" y="2122336"/>
            <a:ext cx="24288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HARDWARE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43625" y="2420587"/>
            <a:ext cx="242887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Edge GPU Maturity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43625" y="2740605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NVIDIA Jetson Orin and AMD Ryzen AI have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made </a:t>
            </a: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real-time neural inference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economically viable at the camera level in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12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MAHAMAIA Solution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900879"/>
            <a:ext cx="37147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REFERENCE CODEC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284856"/>
            <a:ext cx="3714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LeWM-VC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1500" y="2756343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semantic video codec built specifically for machine perception pipelines. It preserves what models need while discarding human-centric pixel overhead.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7250" y="3587809"/>
            <a:ext cx="428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85838" y="3587809"/>
            <a:ext cx="17287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 Bitrate reduction vs. H.265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57250" y="3832482"/>
            <a:ext cx="428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85838" y="3832482"/>
            <a:ext cx="167342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Latent semantic representation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57250" y="4077156"/>
            <a:ext cx="428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85838" y="4077156"/>
            <a:ext cx="193952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edge inference (80+ FPS)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857750" y="1900879"/>
            <a:ext cx="37147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EVALUATION STANDARD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4857750" y="2284856"/>
            <a:ext cx="37147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LeWM-Eval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57750" y="2756343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reproducible framework that measures task accuracy at matched bitrates, designed to become the "BD-rate" of machine-oriented codecs.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143500" y="3587809"/>
            <a:ext cx="428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272088" y="3587809"/>
            <a:ext cx="168056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accuracy metrics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143500" y="3832482"/>
            <a:ext cx="428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72088" y="3832482"/>
            <a:ext cx="13894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Cross-codec leaderboard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143500" y="4077156"/>
            <a:ext cx="428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72088" y="4077156"/>
            <a:ext cx="186094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compliance (EU AI Act)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4757598"/>
            <a:ext cx="9144000" cy="4036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4757598"/>
            <a:ext cx="9144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2325291" y="4971910"/>
            <a:ext cx="449341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1" kern="0" dirty="0">
                <a:solidFill>
                  <a:srgbClr val="A0AEC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CAMERA → </a:t>
            </a:r>
            <a:r>
              <a:rPr lang="en-US" sz="1000" spc="1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LeWM-VC</a:t>
            </a:r>
            <a:r>
              <a:rPr lang="en-US" sz="1050" spc="1" kern="0" dirty="0">
                <a:solidFill>
                  <a:srgbClr val="A0AEC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→ MACHINE PERCEPTION → </a:t>
            </a:r>
            <a:r>
              <a:rPr lang="en-US" sz="1000" spc="1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LeWM-EVAL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Technical Insight: Latent Space Prediction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07986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PARADIGM SHIFT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1929454"/>
            <a:ext cx="385762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Beyond Pixel Reconstruction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1500" y="2313431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codecs predict future frames in pixel space using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hand-crafted motion vectors. LeWM-VC predicts future frames 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</a:t>
            </a:r>
            <a:r>
              <a:rPr lang="en-US" sz="90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latent semantic space</a:t>
            </a: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learned transformer.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216334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ADVANTAGE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71500" y="3537803"/>
            <a:ext cx="385762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Superior Efficiency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" y="3921779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predicting what downstream models actually need, we achieve smaller files, better semantic preservation, and zero motion vector overhead.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14875" y="1607986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COMPETITIVE COMPARISON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714875" y="1872304"/>
            <a:ext cx="1165910" cy="3643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Dimension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880785" y="1872304"/>
            <a:ext cx="1272397" cy="3643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Traditional (H.26x)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153182" y="1872304"/>
            <a:ext cx="1419318" cy="3643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LeWM-VC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14875" y="2236636"/>
            <a:ext cx="1165910" cy="35897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Model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880785" y="2236636"/>
            <a:ext cx="1272397" cy="35897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Hand-crafted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153182" y="2236636"/>
            <a:ext cx="1419318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Learned Transformer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14875" y="2595609"/>
            <a:ext cx="1165910" cy="35897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Space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880785" y="2595609"/>
            <a:ext cx="1272397" cy="35897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Pixel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153182" y="2595609"/>
            <a:ext cx="1419318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Latent Semantic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14875" y="2954582"/>
            <a:ext cx="1165910" cy="35897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880785" y="2954582"/>
            <a:ext cx="1272397" cy="35897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Fidelity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153182" y="2954582"/>
            <a:ext cx="1419318" cy="35897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Task Accuracy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714875" y="3313556"/>
            <a:ext cx="3857625" cy="355402"/>
          </a:xfrm>
          <a:prstGeom prst="rect">
            <a:avLst/>
          </a:prstGeom>
          <a:solidFill>
            <a:srgbClr val="2D5BFF">
              <a:alpha val="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4714875" y="3313556"/>
            <a:ext cx="1165910" cy="355402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Moat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880785" y="3313556"/>
            <a:ext cx="1272397" cy="355402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53182" y="3313556"/>
            <a:ext cx="1419318" cy="35540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Native Preservation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Proven Performance Results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258067"/>
            <a:ext cx="2428875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-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62%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571500" y="3195684"/>
            <a:ext cx="2428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Bitrate Reduction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3556443"/>
            <a:ext cx="24288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for P-frames versus all-intra coding on surveillance video. Equivalent storage cost with better detection accuracy.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4362208"/>
            <a:ext cx="1243013" cy="17680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STORAGE EFFICIENCY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3357563" y="2258067"/>
            <a:ext cx="2428875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-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7.2pp</a:t>
            </a:r>
            <a:endParaRPr lang="en-US" sz="4350" dirty="0"/>
          </a:p>
        </p:txBody>
      </p:sp>
      <p:sp>
        <p:nvSpPr>
          <p:cNvPr id="9" name="Text 6"/>
          <p:cNvSpPr/>
          <p:nvPr/>
        </p:nvSpPr>
        <p:spPr>
          <a:xfrm>
            <a:off x="3357563" y="3195684"/>
            <a:ext cx="2428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Accuracy Gain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57563" y="3556443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accuracy advantage of LeWM-VC latents over H.265 decoded frames at matched bitrate. Preserves critical semantic data.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357563" y="4545071"/>
            <a:ext cx="1012627" cy="17680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TASK ACCURACY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143625" y="2258067"/>
            <a:ext cx="2428875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-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80+</a:t>
            </a:r>
            <a:endParaRPr lang="en-US" sz="4350" dirty="0"/>
          </a:p>
        </p:txBody>
      </p:sp>
      <p:sp>
        <p:nvSpPr>
          <p:cNvPr id="13" name="Text 10"/>
          <p:cNvSpPr/>
          <p:nvPr/>
        </p:nvSpPr>
        <p:spPr>
          <a:xfrm>
            <a:off x="6143625" y="3195684"/>
            <a:ext cx="24288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FPS Throughput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3625" y="3556443"/>
            <a:ext cx="242887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throughput on an NVIDIA T4 GPU. Real-time capable on commodity edge hardware today.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143625" y="4362208"/>
            <a:ext cx="1205508" cy="17680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EDGE PERFORMANCE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Moat: Owning the Evaluation Standard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07986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HISTORICAL PARALLEL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229492"/>
            <a:ext cx="3857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BD-rate Precedent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561676"/>
            <a:ext cx="38576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2001, a one-page document defined how to measure video codecs.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25 years, every researcher has had to speak that language. </a:t>
            </a:r>
            <a:r>
              <a:rPr lang="en-US" sz="80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LeWM-</a:t>
            </a:r>
            <a:r>
              <a:rPr lang="en-US" sz="80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Eval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designed to be the BD-rate for the machine-oriented era.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3753203"/>
            <a:ext cx="3857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Dolby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4085388"/>
            <a:ext cx="38576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Dolby doesn't build speakers; they build the </a:t>
            </a:r>
            <a:r>
              <a:rPr lang="en-US" sz="80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certification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speakers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for. We are building the neutral measurement standard that the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 industry must adopt to prove compliance.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714875" y="1607986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MOAT MECHANICS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714875" y="1872304"/>
            <a:ext cx="3857625" cy="2514600"/>
          </a:xfrm>
          <a:prstGeom prst="rect">
            <a:avLst/>
          </a:prstGeom>
          <a:solidFill>
            <a:srgbClr val="2D5BFF">
              <a:alpha val="5000"/>
            </a:srgbClr>
          </a:solidFill>
          <a:ln w="9144">
            <a:solidFill>
              <a:srgbClr val="2D5B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93494" y="2257620"/>
            <a:ext cx="32646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MPEG VCM Integration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93494" y="2521939"/>
            <a:ext cx="32646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Becoming the reference implementation for the ISO/IEC machine-oriented video standard.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93494" y="3215832"/>
            <a:ext cx="32646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Research Dominance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93494" y="3480150"/>
            <a:ext cx="32646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into CompressAI and mandatory citation in academic papers via Papers With Code.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93494" y="4174043"/>
            <a:ext cx="326469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Institutional Neutrality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93494" y="4438362"/>
            <a:ext cx="32646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 owned by a hardware vendor is never adopted by rivals. Independence is our structural advantage.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Current Traction and Momentum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043754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OPEN SOURCE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308073"/>
            <a:ext cx="24288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GitHub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2634900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code and pretrained checkpoints at github.com/MAHAMAIA/lewm-vc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3169230"/>
            <a:ext cx="24288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PyPI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1500" y="3496056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LeWM-Eval standalone package launched for community evaluation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357563" y="2043754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COMMUNITY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57563" y="2308073"/>
            <a:ext cx="24288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arXiv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357563" y="2634900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Preprint published with active downloads and academic engagement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357563" y="3169230"/>
            <a:ext cx="24288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Leaderboard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57563" y="3496056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codecs evaluated using the LeWM-Eval framework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43625" y="2043754"/>
            <a:ext cx="24288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STRATEGIC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143625" y="2308073"/>
            <a:ext cx="24288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AMD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43625" y="2634900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MI300X compute partnership for large-scale training and validation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43625" y="3169230"/>
            <a:ext cx="24288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MPEG VCM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43625" y="3496056"/>
            <a:ext cx="2428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engagement and participation in standardization meetings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Market Opportunity: First Principles Growth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79423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BEACHHEAD: GDPR SMART CITIES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086617"/>
            <a:ext cx="2286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Camera Deployments (EU/UK)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779044" y="2086617"/>
            <a:ext cx="6500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8,000,000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472379"/>
            <a:ext cx="201632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Smart/Enterprise Segment (25%)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779044" y="2472379"/>
            <a:ext cx="65008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2,000,000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1500" y="2858142"/>
            <a:ext cx="1812727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SDK License Fee / Unit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87998" y="2858142"/>
            <a:ext cx="44112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$50.00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1500" y="3351061"/>
            <a:ext cx="3857625" cy="1073348"/>
          </a:xfrm>
          <a:prstGeom prst="rect">
            <a:avLst/>
          </a:prstGeom>
          <a:solidFill>
            <a:srgbClr val="2D5BFF">
              <a:alpha val="5000"/>
            </a:srgbClr>
          </a:solidFill>
          <a:ln w="9144">
            <a:solidFill>
              <a:srgbClr val="2D5BFF">
                <a:alpha val="2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5813" y="3565373"/>
            <a:ext cx="3429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2D5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ADDRESSABLE BEACHHEAD ARR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85813" y="3758254"/>
            <a:ext cx="34290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$100,000,000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4714875" y="1679423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EXPANSION &amp; MOAT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714875" y="2336648"/>
            <a:ext cx="3857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Global Machine Perception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14875" y="2668832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into Autonomous Vehicles, Industrial Inspection, and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provides a </a:t>
            </a:r>
            <a:r>
              <a:rPr lang="en-US" sz="80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10x multiplier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targeting a </a:t>
            </a:r>
            <a:r>
              <a:rPr lang="en-US" sz="80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$1B+ ARR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outcome.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14875" y="3654670"/>
            <a:ext cx="3857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Certification Revenue Layer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14875" y="3986854"/>
            <a:ext cx="3857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LeWM-Eval certification for 50+ major camera OEMs at $200K/year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</a:t>
            </a:r>
            <a:r>
              <a:rPr lang="en-US" sz="80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$10M high-margin ARR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standard play alone.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Multi-Stream Business Model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2043754"/>
            <a:ext cx="24288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12–18 MONTHS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370581"/>
            <a:ext cx="24288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SaaS / Edge SDK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1500" y="2753469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Per-camera-per-month subscription for the LeWM-VC compression and analytics pipeline. Immediate revenue from smart city design partners.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71500" y="3663516"/>
            <a:ext cx="1226939" cy="176808"/>
          </a:xfrm>
          <a:prstGeom prst="rect">
            <a:avLst/>
          </a:prstGeom>
          <a:solidFill>
            <a:srgbClr val="2D5BFF">
              <a:alpha val="10000"/>
            </a:srgbClr>
          </a:solidFill>
          <a:ln w="9144">
            <a:solidFill>
              <a:srgbClr val="2D5B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1500" y="3663516"/>
            <a:ext cx="1226939" cy="17680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RECURRING REVENUE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357563" y="2043754"/>
            <a:ext cx="24288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18–36 MONTHS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57563" y="2370581"/>
            <a:ext cx="242887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Codec SDK Licensing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57563" y="2753469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Per-device royalty for hardware manufacturers (camera OEMs, NVR vendors) embedding LeWM-VC in firmware. Triggered by VCM standardization.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57563" y="3663516"/>
            <a:ext cx="1230511" cy="176808"/>
          </a:xfrm>
          <a:prstGeom prst="rect">
            <a:avLst/>
          </a:prstGeom>
          <a:solidFill>
            <a:srgbClr val="2D5BFF">
              <a:alpha val="10000"/>
            </a:srgbClr>
          </a:solidFill>
          <a:ln w="9144">
            <a:solidFill>
              <a:srgbClr val="2D5B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7563" y="3663516"/>
            <a:ext cx="1230511" cy="17680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ROYALTIES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143625" y="2043754"/>
            <a:ext cx="24288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24–48 MONTHS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143625" y="2370581"/>
            <a:ext cx="2428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Certification &amp; Consulting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43625" y="2993482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LeWM-Eval certification for codec vendors and consulting for VCM compliance. High-margin, recurring moat similar to the Dolby model.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43625" y="3903529"/>
            <a:ext cx="1155502" cy="176808"/>
          </a:xfrm>
          <a:prstGeom prst="rect">
            <a:avLst/>
          </a:prstGeom>
          <a:solidFill>
            <a:srgbClr val="2D5BFF">
              <a:alpha val="10000"/>
            </a:srgbClr>
          </a:solidFill>
          <a:ln w="9144">
            <a:solidFill>
              <a:srgbClr val="2D5BFF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3625" y="3903529"/>
            <a:ext cx="1155502" cy="17680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MARGIN MOAT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Team: Technical and Strategic Depth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900879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TECHNICAL LEADERSHIP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2250923"/>
            <a:ext cx="38576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Founder &amp; Lead Architect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2670618"/>
            <a:ext cx="38576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Tech Infrastructure Specialist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85838" y="2968870"/>
            <a:ext cx="213955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LeWM-VC Architecture &amp; Codec Design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5838" y="3192112"/>
            <a:ext cx="21591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JEPA Implementation &amp; ML Optimization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5838" y="3415354"/>
            <a:ext cx="24181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Track Record &amp; Reproducibility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71500" y="3838622"/>
            <a:ext cx="3857625" cy="54859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Active Search: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are currently seeking a co-founder with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engineering or enterprise BD background to scale </a:t>
            </a: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14875" y="1679423"/>
            <a:ext cx="3857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INSTITUTIONAL ACCESS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714875" y="1908023"/>
            <a:ext cx="3857625" cy="2371725"/>
          </a:xfrm>
          <a:prstGeom prst="rect">
            <a:avLst/>
          </a:prstGeom>
          <a:solidFill>
            <a:srgbClr val="2D5BFF">
              <a:alpha val="5000"/>
            </a:srgbClr>
          </a:solidFill>
          <a:ln w="9144">
            <a:solidFill>
              <a:srgbClr val="2D5B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3525" y="2236636"/>
            <a:ext cx="3071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AMD: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650706" y="2236636"/>
            <a:ext cx="160198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MI300X Compute Partnership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343525" y="2459878"/>
            <a:ext cx="6679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MPEG VCM: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11466" y="2459878"/>
            <a:ext cx="164663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Standardization Access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43525" y="2683120"/>
            <a:ext cx="5911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Academic: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34670" y="2683120"/>
            <a:ext cx="137338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Research Network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929188" y="3034950"/>
            <a:ext cx="3429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team combines deep technical moats with the institutional relationships required to drive global standards adoption.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1806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Ask: Building the Infrastructure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679423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SEED ROUND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71500" y="1943742"/>
            <a:ext cx="3714750" cy="65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750" b="1" spc="-2" kern="0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$3–5M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2884931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WHAT WE ARE BUILDING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71500" y="3330522"/>
            <a:ext cx="175557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Team Expansion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41564" y="3299268"/>
            <a:ext cx="34468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50%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3841300"/>
            <a:ext cx="185201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Compute Infrastructure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41564" y="3810047"/>
            <a:ext cx="34468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30%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4352079"/>
            <a:ext cx="148232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&amp; IP Strategy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43350" y="4320825"/>
            <a:ext cx="3429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B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57750" y="1679423"/>
            <a:ext cx="3714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spc="2" kern="0" dirty="0">
                <a:solidFill>
                  <a:srgbClr val="2D5B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18-MONTH MILESTONES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22056" y="1943742"/>
            <a:ext cx="3550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Academic Leadership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22056" y="2159840"/>
            <a:ext cx="33486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LeWM-VC v2 and LeWM-Eval benchmark papers submitted to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2056" y="2331290"/>
            <a:ext cx="13412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CVPR and NeurIPS 2027.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2056" y="2665261"/>
            <a:ext cx="3550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Standard Adoption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2056" y="2881359"/>
            <a:ext cx="29718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LeWM-Eval leaderboard featuring 15+ codecs across 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22056" y="3052809"/>
            <a:ext cx="13323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institutions.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2056" y="3386779"/>
            <a:ext cx="3550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Commercial Traction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22056" y="3602878"/>
            <a:ext cx="34290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paying design partner or revenue-stage LOI secured in the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022056" y="3774328"/>
            <a:ext cx="10429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beachhead market.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022056" y="4108298"/>
            <a:ext cx="3550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Regulatory Influence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22056" y="4324397"/>
            <a:ext cx="31861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MPEG VCM contribution submitted and acknowledged as 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22056" y="4495847"/>
            <a:ext cx="14144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implementation.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2026-05-17T15:12:50Z</dcterms:created>
  <dcterms:modified xsi:type="dcterms:W3CDTF">2026-05-17T15:12:50Z</dcterms:modified>
</cp:coreProperties>
</file>