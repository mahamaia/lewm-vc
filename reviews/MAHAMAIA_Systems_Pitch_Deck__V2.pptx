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42863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0" y="651225"/>
            <a:ext cx="571500" cy="571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961084" y="1933724"/>
            <a:ext cx="3221831" cy="6300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4350" b="1" spc="-2" kern="0" dirty="0">
                <a:solidFill>
                  <a:srgbClr val="1E293B"/>
                </a:solidFill>
                <a:latin typeface="Exo 2 ExtraBold" pitchFamily="34" charset="0"/>
                <a:ea typeface="Exo 2 ExtraBold" pitchFamily="34" charset="-122"/>
                <a:cs typeface="Exo 2 ExtraBold" pitchFamily="34" charset="-120"/>
              </a:rPr>
              <a:t>MAHAMAIA</a:t>
            </a:r>
            <a:endParaRPr lang="en-US" sz="4350" dirty="0"/>
          </a:p>
        </p:txBody>
      </p:sp>
      <p:sp>
        <p:nvSpPr>
          <p:cNvPr id="6" name="Text 2"/>
          <p:cNvSpPr/>
          <p:nvPr/>
        </p:nvSpPr>
        <p:spPr>
          <a:xfrm>
            <a:off x="2041327" y="2906697"/>
            <a:ext cx="5061347" cy="2800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64748B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Compression Infrastructure for Machine-Oriented Video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3777258" y="3958251"/>
            <a:ext cx="158948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Exo 2 SemiBold" pitchFamily="34" charset="0"/>
                <a:ea typeface="Exo 2 SemiBold" pitchFamily="34" charset="-122"/>
                <a:cs typeface="Exo 2 SemiBold" pitchFamily="34" charset="-120"/>
              </a:rPr>
              <a:t>Preetam Mukherjee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3777258" y="4272576"/>
            <a:ext cx="1589484" cy="119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Founder · preetam@mahamaia.com</a:t>
            </a:r>
            <a:endParaRPr lang="en-US" sz="750" dirty="0"/>
          </a:p>
        </p:txBody>
      </p:sp>
      <p:sp>
        <p:nvSpPr>
          <p:cNvPr id="9" name="Shape 5"/>
          <p:cNvSpPr/>
          <p:nvPr/>
        </p:nvSpPr>
        <p:spPr>
          <a:xfrm>
            <a:off x="428625" y="4711303"/>
            <a:ext cx="8286750" cy="21788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0" name="Shape 6"/>
          <p:cNvSpPr/>
          <p:nvPr/>
        </p:nvSpPr>
        <p:spPr>
          <a:xfrm>
            <a:off x="428625" y="4711303"/>
            <a:ext cx="8286750" cy="7144"/>
          </a:xfrm>
          <a:prstGeom prst="rect">
            <a:avLst/>
          </a:prstGeom>
          <a:solidFill>
            <a:srgbClr val="ECECEE"/>
          </a:solidFill>
          <a:ln/>
        </p:spPr>
      </p:sp>
      <p:sp>
        <p:nvSpPr>
          <p:cNvPr id="11" name="Text 7"/>
          <p:cNvSpPr/>
          <p:nvPr/>
        </p:nvSpPr>
        <p:spPr>
          <a:xfrm>
            <a:off x="428625" y="4825603"/>
            <a:ext cx="794742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MAHAMAIA Systems</a:t>
            </a:r>
            <a:endParaRPr lang="en-US" sz="600" dirty="0"/>
          </a:p>
        </p:txBody>
      </p:sp>
      <p:sp>
        <p:nvSpPr>
          <p:cNvPr id="12" name="Text 8"/>
          <p:cNvSpPr/>
          <p:nvPr/>
        </p:nvSpPr>
        <p:spPr>
          <a:xfrm>
            <a:off x="8061722" y="4825603"/>
            <a:ext cx="653653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Seed Deck · 2026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42863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1"/>
          <p:cNvSpPr/>
          <p:nvPr/>
        </p:nvSpPr>
        <p:spPr>
          <a:xfrm>
            <a:off x="428625" y="285750"/>
            <a:ext cx="1007994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94A3B8"/>
                </a:solidFill>
                <a:latin typeface="Exo 2 SemiBold" pitchFamily="34" charset="0"/>
                <a:ea typeface="Exo 2 SemiBold" pitchFamily="34" charset="-122"/>
                <a:cs typeface="Exo 2 SemiBold" pitchFamily="34" charset="-120"/>
              </a:rPr>
              <a:t>02 // THE PROBLEM</a:t>
            </a:r>
            <a:endParaRPr lang="en-US" sz="600" dirty="0"/>
          </a:p>
        </p:txBody>
      </p:sp>
      <p:sp>
        <p:nvSpPr>
          <p:cNvPr id="5" name="Text 2"/>
          <p:cNvSpPr/>
          <p:nvPr/>
        </p:nvSpPr>
        <p:spPr>
          <a:xfrm>
            <a:off x="428625" y="638361"/>
            <a:ext cx="8286750" cy="720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100" b="1" dirty="0">
                <a:solidFill>
                  <a:srgbClr val="0F172A"/>
                </a:solidFill>
                <a:latin typeface="Exo 2 Bold" pitchFamily="34" charset="0"/>
                <a:ea typeface="Exo 2 Bold" pitchFamily="34" charset="-122"/>
                <a:cs typeface="Exo 2 Bold" pitchFamily="34" charset="-120"/>
              </a:rPr>
              <a:t>Codecs optimize for human eyes.</a:t>
            </a:r>
            <a:r>
              <a:rPr lang="en-US" sz="2100" b="1" dirty="0">
                <a:solidFill>
                  <a:srgbClr val="0F172A"/>
                </a:solidFill>
                <a:latin typeface="Exo 2 Bold" pitchFamily="34" charset="0"/>
                <a:ea typeface="Exo 2 Bold" pitchFamily="34" charset="-122"/>
                <a:cs typeface="Exo 2 Bold" pitchFamily="34" charset="-120"/>
              </a:rPr>
              <a:t>
</a:t>
            </a:r>
            <a:r>
              <a:rPr lang="en-US" sz="2100" b="1" dirty="0">
                <a:solidFill>
                  <a:srgbClr val="0F172A"/>
                </a:solidFill>
                <a:latin typeface="Exo 2 Bold" pitchFamily="34" charset="0"/>
                <a:ea typeface="Exo 2 Bold" pitchFamily="34" charset="-122"/>
                <a:cs typeface="Exo 2 Bold" pitchFamily="34" charset="-120"/>
              </a:rPr>
              <a:t>Your consumer is a GPU.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428625" y="1644179"/>
            <a:ext cx="1943100" cy="460772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7" name="Text 4"/>
          <p:cNvSpPr/>
          <p:nvPr/>
        </p:nvSpPr>
        <p:spPr>
          <a:xfrm>
            <a:off x="571500" y="1858491"/>
            <a:ext cx="1657350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Exo 2 SemiBold" pitchFamily="34" charset="0"/>
                <a:ea typeface="Exo 2 SemiBold" pitchFamily="34" charset="-122"/>
                <a:cs typeface="Exo 2 SemiBold" pitchFamily="34" charset="-120"/>
              </a:rPr>
              <a:t>SURVEILLANCE</a:t>
            </a:r>
            <a:endParaRPr lang="en-US" sz="600" dirty="0"/>
          </a:p>
        </p:txBody>
      </p:sp>
      <p:sp>
        <p:nvSpPr>
          <p:cNvPr id="8" name="Shape 5"/>
          <p:cNvSpPr/>
          <p:nvPr/>
        </p:nvSpPr>
        <p:spPr>
          <a:xfrm>
            <a:off x="2543175" y="1644179"/>
            <a:ext cx="1943100" cy="460772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9" name="Text 6"/>
          <p:cNvSpPr/>
          <p:nvPr/>
        </p:nvSpPr>
        <p:spPr>
          <a:xfrm>
            <a:off x="2686050" y="1858491"/>
            <a:ext cx="1657350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Exo 2 SemiBold" pitchFamily="34" charset="0"/>
                <a:ea typeface="Exo 2 SemiBold" pitchFamily="34" charset="-122"/>
                <a:cs typeface="Exo 2 SemiBold" pitchFamily="34" charset="-120"/>
              </a:rPr>
              <a:t>AUTONOMOUS</a:t>
            </a:r>
            <a:endParaRPr lang="en-US" sz="600" dirty="0"/>
          </a:p>
        </p:txBody>
      </p:sp>
      <p:sp>
        <p:nvSpPr>
          <p:cNvPr id="10" name="Shape 7"/>
          <p:cNvSpPr/>
          <p:nvPr/>
        </p:nvSpPr>
        <p:spPr>
          <a:xfrm>
            <a:off x="4657725" y="1644179"/>
            <a:ext cx="1943100" cy="460772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1" name="Text 8"/>
          <p:cNvSpPr/>
          <p:nvPr/>
        </p:nvSpPr>
        <p:spPr>
          <a:xfrm>
            <a:off x="4800600" y="1858491"/>
            <a:ext cx="1657350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Exo 2 SemiBold" pitchFamily="34" charset="0"/>
                <a:ea typeface="Exo 2 SemiBold" pitchFamily="34" charset="-122"/>
                <a:cs typeface="Exo 2 SemiBold" pitchFamily="34" charset="-120"/>
              </a:rPr>
              <a:t>SMART CITY</a:t>
            </a:r>
            <a:endParaRPr lang="en-US" sz="600" dirty="0"/>
          </a:p>
        </p:txBody>
      </p:sp>
      <p:sp>
        <p:nvSpPr>
          <p:cNvPr id="12" name="Shape 9"/>
          <p:cNvSpPr/>
          <p:nvPr/>
        </p:nvSpPr>
        <p:spPr>
          <a:xfrm>
            <a:off x="6772275" y="1644179"/>
            <a:ext cx="1943100" cy="460772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3" name="Text 10"/>
          <p:cNvSpPr/>
          <p:nvPr/>
        </p:nvSpPr>
        <p:spPr>
          <a:xfrm>
            <a:off x="6915150" y="1858491"/>
            <a:ext cx="1657350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Exo 2 SemiBold" pitchFamily="34" charset="0"/>
                <a:ea typeface="Exo 2 SemiBold" pitchFamily="34" charset="-122"/>
                <a:cs typeface="Exo 2 SemiBold" pitchFamily="34" charset="-120"/>
              </a:rPr>
              <a:t>INDUSTRIAL</a:t>
            </a:r>
            <a:endParaRPr lang="en-US" sz="600" dirty="0"/>
          </a:p>
        </p:txBody>
      </p:sp>
      <p:sp>
        <p:nvSpPr>
          <p:cNvPr id="14" name="Shape 11"/>
          <p:cNvSpPr/>
          <p:nvPr/>
        </p:nvSpPr>
        <p:spPr>
          <a:xfrm>
            <a:off x="428625" y="2390701"/>
            <a:ext cx="8286750" cy="728663"/>
          </a:xfrm>
          <a:prstGeom prst="rect">
            <a:avLst/>
          </a:prstGeom>
          <a:solidFill>
            <a:srgbClr val="06B6D4">
              <a:alpha val="8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428625" y="2390701"/>
            <a:ext cx="28575" cy="728663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6" name="Text 13"/>
          <p:cNvSpPr/>
          <p:nvPr/>
        </p:nvSpPr>
        <p:spPr>
          <a:xfrm>
            <a:off x="642938" y="2562151"/>
            <a:ext cx="785812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Exo 2 SemiBold" pitchFamily="34" charset="0"/>
                <a:ea typeface="Exo 2 SemiBold" pitchFamily="34" charset="-122"/>
                <a:cs typeface="Exo 2 SemiBold" pitchFamily="34" charset="-120"/>
              </a:rPr>
              <a:t>Every camera in every surveillance deployment today is compressing video the wrong way for its actual consumer—the machine perception pipeline.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28625" y="4711303"/>
            <a:ext cx="8286750" cy="21788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428625" y="4711303"/>
            <a:ext cx="8286750" cy="7144"/>
          </a:xfrm>
          <a:prstGeom prst="rect">
            <a:avLst/>
          </a:prstGeom>
          <a:solidFill>
            <a:srgbClr val="ECECEE"/>
          </a:solidFill>
          <a:ln/>
        </p:spPr>
      </p:sp>
      <p:sp>
        <p:nvSpPr>
          <p:cNvPr id="19" name="Text 16"/>
          <p:cNvSpPr/>
          <p:nvPr/>
        </p:nvSpPr>
        <p:spPr>
          <a:xfrm>
            <a:off x="428625" y="4825603"/>
            <a:ext cx="794742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MAHAMAIA Systems</a:t>
            </a:r>
            <a:endParaRPr lang="en-US" sz="600" dirty="0"/>
          </a:p>
        </p:txBody>
      </p:sp>
      <p:sp>
        <p:nvSpPr>
          <p:cNvPr id="20" name="Text 17"/>
          <p:cNvSpPr/>
          <p:nvPr/>
        </p:nvSpPr>
        <p:spPr>
          <a:xfrm>
            <a:off x="8061722" y="4825603"/>
            <a:ext cx="653653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Seed Deck · 2026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42863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1"/>
          <p:cNvSpPr/>
          <p:nvPr/>
        </p:nvSpPr>
        <p:spPr>
          <a:xfrm>
            <a:off x="428625" y="285750"/>
            <a:ext cx="862273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94A3B8"/>
                </a:solidFill>
                <a:latin typeface="Exo 2 SemiBold" pitchFamily="34" charset="0"/>
                <a:ea typeface="Exo 2 SemiBold" pitchFamily="34" charset="-122"/>
                <a:cs typeface="Exo 2 SemiBold" pitchFamily="34" charset="-120"/>
              </a:rPr>
              <a:t>03 // WHY NOW?</a:t>
            </a:r>
            <a:endParaRPr lang="en-US" sz="600" dirty="0"/>
          </a:p>
        </p:txBody>
      </p:sp>
      <p:sp>
        <p:nvSpPr>
          <p:cNvPr id="5" name="Text 2"/>
          <p:cNvSpPr/>
          <p:nvPr/>
        </p:nvSpPr>
        <p:spPr>
          <a:xfrm>
            <a:off x="428625" y="638361"/>
            <a:ext cx="8286750" cy="3600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100" b="1" dirty="0">
                <a:solidFill>
                  <a:srgbClr val="0F172A"/>
                </a:solidFill>
                <a:latin typeface="Exo 2 Bold" pitchFamily="34" charset="0"/>
                <a:ea typeface="Exo 2 Bold" pitchFamily="34" charset="-122"/>
                <a:cs typeface="Exo 2 Bold" pitchFamily="34" charset="-120"/>
              </a:rPr>
              <a:t>The Convergence of Three Forces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785813" y="1784207"/>
            <a:ext cx="7572375" cy="14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Text 4"/>
          <p:cNvSpPr/>
          <p:nvPr/>
        </p:nvSpPr>
        <p:spPr>
          <a:xfrm>
            <a:off x="428625" y="2084245"/>
            <a:ext cx="2609841" cy="119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b="1" spc="1" kern="0" dirty="0">
                <a:solidFill>
                  <a:srgbClr val="06B6D4"/>
                </a:solidFill>
                <a:latin typeface="Exo 2 Bold" pitchFamily="34" charset="0"/>
                <a:ea typeface="Exo 2 Bold" pitchFamily="34" charset="-122"/>
                <a:cs typeface="Exo 2 Bold" pitchFamily="34" charset="-120"/>
              </a:rPr>
              <a:t>STANDARDIZATION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428625" y="2261053"/>
            <a:ext cx="260984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Exo 2 Bold" pitchFamily="34" charset="0"/>
                <a:ea typeface="Exo 2 Bold" pitchFamily="34" charset="-122"/>
                <a:cs typeface="Exo 2 Bold" pitchFamily="34" charset="-120"/>
              </a:rPr>
              <a:t>MPEG VCM Formalization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28625" y="2518228"/>
            <a:ext cx="2609841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ISO/IEC is actively standardizing machine-oriented video coding. Compliance will become mandatory for all camera vendors.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3267066" y="2084245"/>
            <a:ext cx="2609841" cy="119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b="1" spc="1" kern="0" dirty="0">
                <a:solidFill>
                  <a:srgbClr val="06B6D4"/>
                </a:solidFill>
                <a:latin typeface="Exo 2 Bold" pitchFamily="34" charset="0"/>
                <a:ea typeface="Exo 2 Bold" pitchFamily="34" charset="-122"/>
                <a:cs typeface="Exo 2 Bold" pitchFamily="34" charset="-120"/>
              </a:rPr>
              <a:t>REGULATION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3267066" y="2261053"/>
            <a:ext cx="260984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Exo 2 Bold" pitchFamily="34" charset="0"/>
                <a:ea typeface="Exo 2 Bold" pitchFamily="34" charset="-122"/>
                <a:cs typeface="Exo 2 Bold" pitchFamily="34" charset="-120"/>
              </a:rPr>
              <a:t>EU AI Act Enforcement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267066" y="2518228"/>
            <a:ext cx="2609841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High-risk AI systems now require technical documentation of task accuracy. LeWM-Eval provides the missing standard.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6105506" y="2084245"/>
            <a:ext cx="2609841" cy="119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b="1" spc="1" kern="0" dirty="0">
                <a:solidFill>
                  <a:srgbClr val="06B6D4"/>
                </a:solidFill>
                <a:latin typeface="Exo 2 Bold" pitchFamily="34" charset="0"/>
                <a:ea typeface="Exo 2 Bold" pitchFamily="34" charset="-122"/>
                <a:cs typeface="Exo 2 Bold" pitchFamily="34" charset="-120"/>
              </a:rPr>
              <a:t>HARDWARE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6105506" y="2261053"/>
            <a:ext cx="260984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Exo 2 Bold" pitchFamily="34" charset="0"/>
                <a:ea typeface="Exo 2 Bold" pitchFamily="34" charset="-122"/>
                <a:cs typeface="Exo 2 Bold" pitchFamily="34" charset="-120"/>
              </a:rPr>
              <a:t>Edge GPU Maturity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105506" y="2518228"/>
            <a:ext cx="2609841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NVIDIA Jetson Orin and AMD Ryzen AI have made real-time neural inference economically viable at the camera level.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428625" y="4711303"/>
            <a:ext cx="8286750" cy="21788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428625" y="4711303"/>
            <a:ext cx="8286750" cy="7144"/>
          </a:xfrm>
          <a:prstGeom prst="rect">
            <a:avLst/>
          </a:prstGeom>
          <a:solidFill>
            <a:srgbClr val="ECECEE"/>
          </a:solidFill>
          <a:ln/>
        </p:spPr>
      </p:sp>
      <p:sp>
        <p:nvSpPr>
          <p:cNvPr id="18" name="Text 15"/>
          <p:cNvSpPr/>
          <p:nvPr/>
        </p:nvSpPr>
        <p:spPr>
          <a:xfrm>
            <a:off x="428625" y="4825603"/>
            <a:ext cx="794742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MAHAMAIA Systems</a:t>
            </a:r>
            <a:endParaRPr lang="en-US" sz="600" dirty="0"/>
          </a:p>
        </p:txBody>
      </p:sp>
      <p:sp>
        <p:nvSpPr>
          <p:cNvPr id="19" name="Text 16"/>
          <p:cNvSpPr/>
          <p:nvPr/>
        </p:nvSpPr>
        <p:spPr>
          <a:xfrm>
            <a:off x="8061722" y="4825603"/>
            <a:ext cx="653653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Seed Deck · 2026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42863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1"/>
          <p:cNvSpPr/>
          <p:nvPr/>
        </p:nvSpPr>
        <p:spPr>
          <a:xfrm>
            <a:off x="428625" y="285750"/>
            <a:ext cx="1040504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94A3B8"/>
                </a:solidFill>
                <a:latin typeface="Exo 2 SemiBold" pitchFamily="34" charset="0"/>
                <a:ea typeface="Exo 2 SemiBold" pitchFamily="34" charset="-122"/>
                <a:cs typeface="Exo 2 SemiBold" pitchFamily="34" charset="-120"/>
              </a:rPr>
              <a:t>04 // THE SOLUTION</a:t>
            </a:r>
            <a:endParaRPr lang="en-US" sz="600" dirty="0"/>
          </a:p>
        </p:txBody>
      </p:sp>
      <p:sp>
        <p:nvSpPr>
          <p:cNvPr id="5" name="Text 2"/>
          <p:cNvSpPr/>
          <p:nvPr/>
        </p:nvSpPr>
        <p:spPr>
          <a:xfrm>
            <a:off x="428625" y="638361"/>
            <a:ext cx="8286750" cy="3600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100" b="1" dirty="0">
                <a:solidFill>
                  <a:srgbClr val="0F172A"/>
                </a:solidFill>
                <a:latin typeface="Exo 2 Bold" pitchFamily="34" charset="0"/>
                <a:ea typeface="Exo 2 Bold" pitchFamily="34" charset="-122"/>
                <a:cs typeface="Exo 2 Bold" pitchFamily="34" charset="-120"/>
              </a:rPr>
              <a:t>A unified infrastructure for machine video.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428625" y="1212707"/>
            <a:ext cx="8286750" cy="103763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7" name="Shape 4"/>
          <p:cNvSpPr/>
          <p:nvPr/>
        </p:nvSpPr>
        <p:spPr>
          <a:xfrm>
            <a:off x="2543175" y="1427020"/>
            <a:ext cx="457200" cy="4572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6050" y="1569895"/>
            <a:ext cx="171450" cy="1714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601916" y="1941370"/>
            <a:ext cx="339691" cy="946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4A3B8"/>
                </a:solidFill>
                <a:latin typeface="Exo 2 Bold" pitchFamily="34" charset="0"/>
                <a:ea typeface="Exo 2 Bold" pitchFamily="34" charset="-122"/>
                <a:cs typeface="Exo 2 Bold" pitchFamily="34" charset="-120"/>
              </a:rPr>
              <a:t>CAMERA</a:t>
            </a:r>
            <a:endParaRPr lang="en-US" sz="550" dirty="0"/>
          </a:p>
        </p:txBody>
      </p:sp>
      <p:sp>
        <p:nvSpPr>
          <p:cNvPr id="10" name="Text 6"/>
          <p:cNvSpPr/>
          <p:nvPr/>
        </p:nvSpPr>
        <p:spPr>
          <a:xfrm>
            <a:off x="3286125" y="1625259"/>
            <a:ext cx="171450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→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3743325" y="1427020"/>
            <a:ext cx="457200" cy="4572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2" name="Text 8"/>
          <p:cNvSpPr/>
          <p:nvPr/>
        </p:nvSpPr>
        <p:spPr>
          <a:xfrm>
            <a:off x="3804940" y="1612757"/>
            <a:ext cx="333970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Exo 2 ExtraBold" pitchFamily="34" charset="0"/>
                <a:ea typeface="Exo 2 ExtraBold" pitchFamily="34" charset="-122"/>
                <a:cs typeface="Exo 2 ExtraBold" pitchFamily="34" charset="-120"/>
              </a:rPr>
              <a:t>LeWM-VC</a:t>
            </a:r>
            <a:endParaRPr lang="en-US" sz="500" dirty="0"/>
          </a:p>
        </p:txBody>
      </p:sp>
      <p:sp>
        <p:nvSpPr>
          <p:cNvPr id="13" name="Text 9"/>
          <p:cNvSpPr/>
          <p:nvPr/>
        </p:nvSpPr>
        <p:spPr>
          <a:xfrm>
            <a:off x="3839766" y="1941370"/>
            <a:ext cx="264319" cy="946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4A3B8"/>
                </a:solidFill>
                <a:latin typeface="Exo 2 Bold" pitchFamily="34" charset="0"/>
                <a:ea typeface="Exo 2 Bold" pitchFamily="34" charset="-122"/>
                <a:cs typeface="Exo 2 Bold" pitchFamily="34" charset="-120"/>
              </a:rPr>
              <a:t>CODEC</a:t>
            </a:r>
            <a:endParaRPr lang="en-US" sz="550" dirty="0"/>
          </a:p>
        </p:txBody>
      </p:sp>
      <p:sp>
        <p:nvSpPr>
          <p:cNvPr id="14" name="Text 10"/>
          <p:cNvSpPr/>
          <p:nvPr/>
        </p:nvSpPr>
        <p:spPr>
          <a:xfrm>
            <a:off x="4486275" y="1625259"/>
            <a:ext cx="171450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→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4943475" y="1427020"/>
            <a:ext cx="457200" cy="4572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6350" y="1569895"/>
            <a:ext cx="171450" cy="17145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921151" y="1941370"/>
            <a:ext cx="501848" cy="946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4A3B8"/>
                </a:solidFill>
                <a:latin typeface="Exo 2 Bold" pitchFamily="34" charset="0"/>
                <a:ea typeface="Exo 2 Bold" pitchFamily="34" charset="-122"/>
                <a:cs typeface="Exo 2 Bold" pitchFamily="34" charset="-120"/>
              </a:rPr>
              <a:t>PERCEPTION</a:t>
            </a:r>
            <a:endParaRPr lang="en-US" sz="550" dirty="0"/>
          </a:p>
        </p:txBody>
      </p:sp>
      <p:sp>
        <p:nvSpPr>
          <p:cNvPr id="18" name="Text 13"/>
          <p:cNvSpPr/>
          <p:nvPr/>
        </p:nvSpPr>
        <p:spPr>
          <a:xfrm>
            <a:off x="5686425" y="1625259"/>
            <a:ext cx="171450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→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143625" y="1427020"/>
            <a:ext cx="457200" cy="4572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0" name="Text 15"/>
          <p:cNvSpPr/>
          <p:nvPr/>
        </p:nvSpPr>
        <p:spPr>
          <a:xfrm>
            <a:off x="6173986" y="1612757"/>
            <a:ext cx="396478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Exo 2 ExtraBold" pitchFamily="34" charset="0"/>
                <a:ea typeface="Exo 2 ExtraBold" pitchFamily="34" charset="-122"/>
                <a:cs typeface="Exo 2 ExtraBold" pitchFamily="34" charset="-120"/>
              </a:rPr>
              <a:t>LeWM-Eval</a:t>
            </a:r>
            <a:endParaRPr lang="en-US" sz="500" dirty="0"/>
          </a:p>
        </p:txBody>
      </p:sp>
      <p:sp>
        <p:nvSpPr>
          <p:cNvPr id="21" name="Text 16"/>
          <p:cNvSpPr/>
          <p:nvPr/>
        </p:nvSpPr>
        <p:spPr>
          <a:xfrm>
            <a:off x="6153783" y="1941370"/>
            <a:ext cx="436857" cy="946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4A3B8"/>
                </a:solidFill>
                <a:latin typeface="Exo 2 Bold" pitchFamily="34" charset="0"/>
                <a:ea typeface="Exo 2 Bold" pitchFamily="34" charset="-122"/>
                <a:cs typeface="Exo 2 Bold" pitchFamily="34" charset="-120"/>
              </a:rPr>
              <a:t>STANDARD</a:t>
            </a:r>
            <a:endParaRPr lang="en-US" sz="550" dirty="0"/>
          </a:p>
        </p:txBody>
      </p:sp>
      <p:sp>
        <p:nvSpPr>
          <p:cNvPr id="22" name="Shape 17"/>
          <p:cNvSpPr/>
          <p:nvPr/>
        </p:nvSpPr>
        <p:spPr>
          <a:xfrm>
            <a:off x="428625" y="2536087"/>
            <a:ext cx="4029075" cy="1456934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23" name="Shape 18"/>
          <p:cNvSpPr/>
          <p:nvPr/>
        </p:nvSpPr>
        <p:spPr>
          <a:xfrm>
            <a:off x="600075" y="2736112"/>
            <a:ext cx="979419" cy="114300"/>
          </a:xfrm>
          <a:prstGeom prst="roundRect">
            <a:avLst/>
          </a:prstGeom>
          <a:solidFill>
            <a:srgbClr val="06B6D4">
              <a:alpha val="10000"/>
            </a:srgbClr>
          </a:solidFill>
          <a:ln/>
        </p:spPr>
      </p:sp>
      <p:sp>
        <p:nvSpPr>
          <p:cNvPr id="24" name="Text 19"/>
          <p:cNvSpPr/>
          <p:nvPr/>
        </p:nvSpPr>
        <p:spPr>
          <a:xfrm>
            <a:off x="600075" y="2736112"/>
            <a:ext cx="979419" cy="114300"/>
          </a:xfrm>
          <a:prstGeom prst="rect">
            <a:avLst/>
          </a:prstGeom>
          <a:noFill/>
          <a:ln/>
        </p:spPr>
        <p:txBody>
          <a:bodyPr wrap="none" lIns="85090" tIns="17018" rIns="85090" bIns="17018" rtlCol="0" anchor="t">
            <a:spAutoFit/>
          </a:bodyPr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06B6D4"/>
                </a:solidFill>
                <a:latin typeface="Exo 2 Bold" pitchFamily="34" charset="0"/>
                <a:ea typeface="Exo 2 Bold" pitchFamily="34" charset="-122"/>
                <a:cs typeface="Exo 2 Bold" pitchFamily="34" charset="-120"/>
              </a:rPr>
              <a:t>THE REFERENCE CODEC</a:t>
            </a:r>
            <a:endParaRPr lang="en-US" sz="500" dirty="0"/>
          </a:p>
        </p:txBody>
      </p:sp>
      <p:sp>
        <p:nvSpPr>
          <p:cNvPr id="25" name="Text 20"/>
          <p:cNvSpPr/>
          <p:nvPr/>
        </p:nvSpPr>
        <p:spPr>
          <a:xfrm>
            <a:off x="600075" y="2936137"/>
            <a:ext cx="3686175" cy="2053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Exo 2 Bold" pitchFamily="34" charset="0"/>
                <a:ea typeface="Exo 2 Bold" pitchFamily="34" charset="-122"/>
                <a:cs typeface="Exo 2 Bold" pitchFamily="34" charset="-120"/>
              </a:rPr>
              <a:t>LeWM-VC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600075" y="3241532"/>
            <a:ext cx="3686175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 semantic video codec built for machine perception. Compresses footage to a semantic latent representation rather than pixels, achieving 62% bitrate reduction at matched task accuracy.</a:t>
            </a:r>
            <a:endParaRPr lang="en-US" sz="750" dirty="0"/>
          </a:p>
        </p:txBody>
      </p:sp>
      <p:sp>
        <p:nvSpPr>
          <p:cNvPr id="27" name="Shape 22"/>
          <p:cNvSpPr/>
          <p:nvPr/>
        </p:nvSpPr>
        <p:spPr>
          <a:xfrm>
            <a:off x="4686300" y="2536087"/>
            <a:ext cx="4029075" cy="1456934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28" name="Shape 23"/>
          <p:cNvSpPr/>
          <p:nvPr/>
        </p:nvSpPr>
        <p:spPr>
          <a:xfrm>
            <a:off x="4857750" y="2736112"/>
            <a:ext cx="1167668" cy="114300"/>
          </a:xfrm>
          <a:prstGeom prst="roundRect">
            <a:avLst/>
          </a:prstGeom>
          <a:solidFill>
            <a:srgbClr val="0F172A">
              <a:alpha val="10000"/>
            </a:srgbClr>
          </a:solidFill>
          <a:ln/>
        </p:spPr>
      </p:sp>
      <p:sp>
        <p:nvSpPr>
          <p:cNvPr id="29" name="Text 24"/>
          <p:cNvSpPr/>
          <p:nvPr/>
        </p:nvSpPr>
        <p:spPr>
          <a:xfrm>
            <a:off x="4857750" y="2736112"/>
            <a:ext cx="1167668" cy="114300"/>
          </a:xfrm>
          <a:prstGeom prst="rect">
            <a:avLst/>
          </a:prstGeom>
          <a:noFill/>
          <a:ln/>
        </p:spPr>
        <p:txBody>
          <a:bodyPr wrap="none" lIns="85090" tIns="17018" rIns="85090" bIns="17018" rtlCol="0" anchor="t">
            <a:spAutoFit/>
          </a:bodyPr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0F172A"/>
                </a:solidFill>
                <a:latin typeface="Exo 2 Bold" pitchFamily="34" charset="0"/>
                <a:ea typeface="Exo 2 Bold" pitchFamily="34" charset="-122"/>
                <a:cs typeface="Exo 2 Bold" pitchFamily="34" charset="-120"/>
              </a:rPr>
              <a:t>THE EVALUATION STANDARD</a:t>
            </a:r>
            <a:endParaRPr lang="en-US" sz="500" dirty="0"/>
          </a:p>
        </p:txBody>
      </p:sp>
      <p:sp>
        <p:nvSpPr>
          <p:cNvPr id="30" name="Text 25"/>
          <p:cNvSpPr/>
          <p:nvPr/>
        </p:nvSpPr>
        <p:spPr>
          <a:xfrm>
            <a:off x="4857750" y="2936137"/>
            <a:ext cx="3686175" cy="2053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Exo 2 Bold" pitchFamily="34" charset="0"/>
                <a:ea typeface="Exo 2 Bold" pitchFamily="34" charset="-122"/>
                <a:cs typeface="Exo 2 Bold" pitchFamily="34" charset="-120"/>
              </a:rPr>
              <a:t>LeWM-Eval</a:t>
            </a:r>
            <a:endParaRPr lang="en-US" sz="1200" dirty="0"/>
          </a:p>
        </p:txBody>
      </p:sp>
      <p:sp>
        <p:nvSpPr>
          <p:cNvPr id="31" name="Text 26"/>
          <p:cNvSpPr/>
          <p:nvPr/>
        </p:nvSpPr>
        <p:spPr>
          <a:xfrm>
            <a:off x="4857750" y="3241532"/>
            <a:ext cx="3686175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The first reproducible framework that measures what matters—task accuracy at matched bitrate. Designed to become the "BD-rate" of machine-oriented codecs.</a:t>
            </a:r>
            <a:endParaRPr lang="en-US" sz="750" dirty="0"/>
          </a:p>
        </p:txBody>
      </p:sp>
      <p:sp>
        <p:nvSpPr>
          <p:cNvPr id="32" name="Shape 27"/>
          <p:cNvSpPr/>
          <p:nvPr/>
        </p:nvSpPr>
        <p:spPr>
          <a:xfrm>
            <a:off x="428625" y="4711303"/>
            <a:ext cx="8286750" cy="21788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33" name="Shape 28"/>
          <p:cNvSpPr/>
          <p:nvPr/>
        </p:nvSpPr>
        <p:spPr>
          <a:xfrm>
            <a:off x="428625" y="4711303"/>
            <a:ext cx="8286750" cy="7144"/>
          </a:xfrm>
          <a:prstGeom prst="rect">
            <a:avLst/>
          </a:prstGeom>
          <a:solidFill>
            <a:srgbClr val="ECECEE"/>
          </a:solidFill>
          <a:ln/>
        </p:spPr>
      </p:sp>
      <p:sp>
        <p:nvSpPr>
          <p:cNvPr id="34" name="Text 29"/>
          <p:cNvSpPr/>
          <p:nvPr/>
        </p:nvSpPr>
        <p:spPr>
          <a:xfrm>
            <a:off x="428625" y="4825603"/>
            <a:ext cx="794742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MAHAMAIA Systems</a:t>
            </a:r>
            <a:endParaRPr lang="en-US" sz="600" dirty="0"/>
          </a:p>
        </p:txBody>
      </p:sp>
      <p:sp>
        <p:nvSpPr>
          <p:cNvPr id="35" name="Text 30"/>
          <p:cNvSpPr/>
          <p:nvPr/>
        </p:nvSpPr>
        <p:spPr>
          <a:xfrm>
            <a:off x="8061722" y="4825603"/>
            <a:ext cx="653653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Seed Deck · 2026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42863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1"/>
          <p:cNvSpPr/>
          <p:nvPr/>
        </p:nvSpPr>
        <p:spPr>
          <a:xfrm>
            <a:off x="428625" y="285750"/>
            <a:ext cx="8715375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94A3B8"/>
                </a:solidFill>
                <a:latin typeface="Exo 2 SemiBold" pitchFamily="34" charset="0"/>
                <a:ea typeface="Exo 2 SemiBold" pitchFamily="34" charset="-122"/>
                <a:cs typeface="Exo 2 SemiBold" pitchFamily="34" charset="-120"/>
              </a:rPr>
              <a:t>05 // CORE TECHNOLOGY</a:t>
            </a:r>
            <a:endParaRPr lang="en-US" sz="600" dirty="0"/>
          </a:p>
        </p:txBody>
      </p:sp>
      <p:sp>
        <p:nvSpPr>
          <p:cNvPr id="5" name="Text 2"/>
          <p:cNvSpPr/>
          <p:nvPr/>
        </p:nvSpPr>
        <p:spPr>
          <a:xfrm>
            <a:off x="428625" y="638361"/>
            <a:ext cx="8286750" cy="3600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100" b="1" dirty="0">
                <a:solidFill>
                  <a:srgbClr val="0F172A"/>
                </a:solidFill>
                <a:latin typeface="Exo 2 Bold" pitchFamily="34" charset="0"/>
                <a:ea typeface="Exo 2 Bold" pitchFamily="34" charset="-122"/>
                <a:cs typeface="Exo 2 Bold" pitchFamily="34" charset="-120"/>
              </a:rPr>
              <a:t>Beyond Pixel Reconstruction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428625" y="1212707"/>
            <a:ext cx="8286750" cy="1309092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7" name="Shape 4"/>
          <p:cNvSpPr/>
          <p:nvPr/>
        </p:nvSpPr>
        <p:spPr>
          <a:xfrm>
            <a:off x="3086100" y="1498457"/>
            <a:ext cx="571500" cy="571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7550" y="1669907"/>
            <a:ext cx="228600" cy="228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201991" y="2141395"/>
            <a:ext cx="339691" cy="946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4A3B8"/>
                </a:solidFill>
                <a:latin typeface="Exo 2 Bold" pitchFamily="34" charset="0"/>
                <a:ea typeface="Exo 2 Bold" pitchFamily="34" charset="-122"/>
                <a:cs typeface="Exo 2 Bold" pitchFamily="34" charset="-120"/>
              </a:rPr>
              <a:t>CAMERA</a:t>
            </a:r>
            <a:endParaRPr lang="en-US" sz="550" dirty="0"/>
          </a:p>
        </p:txBody>
      </p:sp>
      <p:sp>
        <p:nvSpPr>
          <p:cNvPr id="10" name="Text 6"/>
          <p:cNvSpPr/>
          <p:nvPr/>
        </p:nvSpPr>
        <p:spPr>
          <a:xfrm>
            <a:off x="3886200" y="1760990"/>
            <a:ext cx="171450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→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4286250" y="1498457"/>
            <a:ext cx="571500" cy="571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2" name="Text 8"/>
          <p:cNvSpPr/>
          <p:nvPr/>
        </p:nvSpPr>
        <p:spPr>
          <a:xfrm>
            <a:off x="4373761" y="1732415"/>
            <a:ext cx="396478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Exo 2 Bold" pitchFamily="34" charset="0"/>
                <a:ea typeface="Exo 2 Bold" pitchFamily="34" charset="-122"/>
                <a:cs typeface="Exo 2 Bold" pitchFamily="34" charset="-120"/>
              </a:rPr>
              <a:t>LeWM-VC</a:t>
            </a:r>
            <a:endParaRPr lang="en-US" sz="600" dirty="0"/>
          </a:p>
        </p:txBody>
      </p:sp>
      <p:sp>
        <p:nvSpPr>
          <p:cNvPr id="13" name="Text 9"/>
          <p:cNvSpPr/>
          <p:nvPr/>
        </p:nvSpPr>
        <p:spPr>
          <a:xfrm>
            <a:off x="4280529" y="2141395"/>
            <a:ext cx="582941" cy="946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4A3B8"/>
                </a:solidFill>
                <a:latin typeface="Exo 2 Bold" pitchFamily="34" charset="0"/>
                <a:ea typeface="Exo 2 Bold" pitchFamily="34" charset="-122"/>
                <a:cs typeface="Exo 2 Bold" pitchFamily="34" charset="-120"/>
              </a:rPr>
              <a:t>LATENT SPACE</a:t>
            </a:r>
            <a:endParaRPr lang="en-US" sz="550" dirty="0"/>
          </a:p>
        </p:txBody>
      </p:sp>
      <p:sp>
        <p:nvSpPr>
          <p:cNvPr id="14" name="Text 10"/>
          <p:cNvSpPr/>
          <p:nvPr/>
        </p:nvSpPr>
        <p:spPr>
          <a:xfrm>
            <a:off x="5086350" y="1760990"/>
            <a:ext cx="171450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→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0" y="1498457"/>
            <a:ext cx="571500" cy="571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7850" y="1669907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521226" y="2141395"/>
            <a:ext cx="501848" cy="946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4A3B8"/>
                </a:solidFill>
                <a:latin typeface="Exo 2 Bold" pitchFamily="34" charset="0"/>
                <a:ea typeface="Exo 2 Bold" pitchFamily="34" charset="-122"/>
                <a:cs typeface="Exo 2 Bold" pitchFamily="34" charset="-120"/>
              </a:rPr>
              <a:t>PERCEPTION</a:t>
            </a:r>
            <a:endParaRPr lang="en-US" sz="550" dirty="0"/>
          </a:p>
        </p:txBody>
      </p:sp>
      <p:sp>
        <p:nvSpPr>
          <p:cNvPr id="18" name="Text 13"/>
          <p:cNvSpPr/>
          <p:nvPr/>
        </p:nvSpPr>
        <p:spPr>
          <a:xfrm>
            <a:off x="628650" y="2893275"/>
            <a:ext cx="3729038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1" kern="0" dirty="0">
                <a:solidFill>
                  <a:srgbClr val="64748B"/>
                </a:solidFill>
                <a:latin typeface="Exo 2 Bold" pitchFamily="34" charset="0"/>
                <a:ea typeface="Exo 2 Bold" pitchFamily="34" charset="-122"/>
                <a:cs typeface="Exo 2 Bold" pitchFamily="34" charset="-120"/>
              </a:rPr>
              <a:t>THE PARADIGM SHIFT</a:t>
            </a:r>
            <a:endParaRPr lang="en-US" sz="600" dirty="0"/>
          </a:p>
        </p:txBody>
      </p:sp>
      <p:sp>
        <p:nvSpPr>
          <p:cNvPr id="19" name="Text 14"/>
          <p:cNvSpPr/>
          <p:nvPr/>
        </p:nvSpPr>
        <p:spPr>
          <a:xfrm>
            <a:off x="628650" y="3111159"/>
            <a:ext cx="3729038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Traditional codecs predict future frames in pixel space using hand-</a:t>
            </a:r>
            <a:r>
              <a:rPr lang="en-US" sz="850" dirty="0">
                <a:solidFill>
                  <a:srgbClr val="64748B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crafted motion vectors. LeWM-VC predicts future frames in </a:t>
            </a:r>
            <a:r>
              <a:rPr lang="en-US" sz="800" b="1" dirty="0">
                <a:solidFill>
                  <a:srgbClr val="64748B"/>
                </a:solidFill>
                <a:latin typeface="Exo 2 Bold" pitchFamily="34" charset="0"/>
                <a:ea typeface="Exo 2 Bold" pitchFamily="34" charset="-122"/>
                <a:cs typeface="Exo 2 Bold" pitchFamily="34" charset="-120"/>
              </a:rPr>
              <a:t>latent semantic space</a:t>
            </a:r>
            <a:r>
              <a:rPr lang="en-US" sz="850" dirty="0">
                <a:solidFill>
                  <a:srgbClr val="64748B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 using a learned transformer.</a:t>
            </a:r>
            <a:endParaRPr lang="en-US" sz="850" dirty="0"/>
          </a:p>
        </p:txBody>
      </p:sp>
      <p:sp>
        <p:nvSpPr>
          <p:cNvPr id="20" name="Text 15"/>
          <p:cNvSpPr/>
          <p:nvPr/>
        </p:nvSpPr>
        <p:spPr>
          <a:xfrm>
            <a:off x="4786313" y="2893275"/>
            <a:ext cx="3929063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1" kern="0" dirty="0">
                <a:solidFill>
                  <a:srgbClr val="64748B"/>
                </a:solidFill>
                <a:latin typeface="Exo 2 Bold" pitchFamily="34" charset="0"/>
                <a:ea typeface="Exo 2 Bold" pitchFamily="34" charset="-122"/>
                <a:cs typeface="Exo 2 Bold" pitchFamily="34" charset="-120"/>
              </a:rPr>
              <a:t>COMPETITIVE EDGE</a:t>
            </a:r>
            <a:endParaRPr lang="en-US" sz="600" dirty="0"/>
          </a:p>
        </p:txBody>
      </p:sp>
      <p:sp>
        <p:nvSpPr>
          <p:cNvPr id="21" name="Text 16"/>
          <p:cNvSpPr/>
          <p:nvPr/>
        </p:nvSpPr>
        <p:spPr>
          <a:xfrm>
            <a:off x="4786313" y="3104015"/>
            <a:ext cx="1678725" cy="323255"/>
          </a:xfrm>
          <a:prstGeom prst="rect">
            <a:avLst/>
          </a:prstGeom>
          <a:noFill/>
          <a:ln/>
        </p:spPr>
        <p:txBody>
          <a:bodyPr wrap="square" lIns="0" tIns="119126" rIns="0" bIns="119126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Motion Model</a:t>
            </a:r>
            <a:endParaRPr lang="en-US" sz="750" dirty="0"/>
          </a:p>
        </p:txBody>
      </p:sp>
      <p:sp>
        <p:nvSpPr>
          <p:cNvPr id="22" name="Text 17"/>
          <p:cNvSpPr/>
          <p:nvPr/>
        </p:nvSpPr>
        <p:spPr>
          <a:xfrm>
            <a:off x="6465038" y="3104015"/>
            <a:ext cx="2250337" cy="323255"/>
          </a:xfrm>
          <a:prstGeom prst="rect">
            <a:avLst/>
          </a:prstGeom>
          <a:noFill/>
          <a:ln/>
        </p:spPr>
        <p:txBody>
          <a:bodyPr wrap="square" lIns="0" tIns="119126" rIns="0" bIns="119126" rtlCol="0" anchor="ctr">
            <a:sp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Exo 2 Bold" pitchFamily="34" charset="0"/>
                <a:ea typeface="Exo 2 Bold" pitchFamily="34" charset="-122"/>
                <a:cs typeface="Exo 2 Bold" pitchFamily="34" charset="-120"/>
              </a:rPr>
              <a:t>Learned Transformer</a:t>
            </a:r>
            <a:endParaRPr lang="en-US" sz="700" dirty="0"/>
          </a:p>
        </p:txBody>
      </p:sp>
      <p:sp>
        <p:nvSpPr>
          <p:cNvPr id="23" name="Text 18"/>
          <p:cNvSpPr/>
          <p:nvPr/>
        </p:nvSpPr>
        <p:spPr>
          <a:xfrm>
            <a:off x="4786313" y="3427270"/>
            <a:ext cx="1678725" cy="326827"/>
          </a:xfrm>
          <a:prstGeom prst="rect">
            <a:avLst/>
          </a:prstGeom>
          <a:noFill/>
          <a:ln/>
        </p:spPr>
        <p:txBody>
          <a:bodyPr wrap="square" lIns="0" tIns="119126" rIns="0" bIns="119126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Prediction Space</a:t>
            </a:r>
            <a:endParaRPr lang="en-US" sz="750" dirty="0"/>
          </a:p>
        </p:txBody>
      </p:sp>
      <p:sp>
        <p:nvSpPr>
          <p:cNvPr id="24" name="Text 19"/>
          <p:cNvSpPr/>
          <p:nvPr/>
        </p:nvSpPr>
        <p:spPr>
          <a:xfrm>
            <a:off x="6465038" y="3427270"/>
            <a:ext cx="2250337" cy="326827"/>
          </a:xfrm>
          <a:prstGeom prst="rect">
            <a:avLst/>
          </a:prstGeom>
          <a:noFill/>
          <a:ln/>
        </p:spPr>
        <p:txBody>
          <a:bodyPr wrap="square" lIns="0" tIns="119126" rIns="0" bIns="119126" rtlCol="0" anchor="ctr">
            <a:sp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Exo 2 Bold" pitchFamily="34" charset="0"/>
                <a:ea typeface="Exo 2 Bold" pitchFamily="34" charset="-122"/>
                <a:cs typeface="Exo 2 Bold" pitchFamily="34" charset="-120"/>
              </a:rPr>
              <a:t>Latent Semantic</a:t>
            </a:r>
            <a:endParaRPr lang="en-US" sz="700" dirty="0"/>
          </a:p>
        </p:txBody>
      </p:sp>
      <p:sp>
        <p:nvSpPr>
          <p:cNvPr id="25" name="Text 20"/>
          <p:cNvSpPr/>
          <p:nvPr/>
        </p:nvSpPr>
        <p:spPr>
          <a:xfrm>
            <a:off x="4786313" y="3754096"/>
            <a:ext cx="1678725" cy="326827"/>
          </a:xfrm>
          <a:prstGeom prst="rect">
            <a:avLst/>
          </a:prstGeom>
          <a:noFill/>
          <a:ln/>
        </p:spPr>
        <p:txBody>
          <a:bodyPr wrap="square" lIns="0" tIns="119126" rIns="0" bIns="119126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Optimization</a:t>
            </a:r>
            <a:endParaRPr lang="en-US" sz="750" dirty="0"/>
          </a:p>
        </p:txBody>
      </p:sp>
      <p:sp>
        <p:nvSpPr>
          <p:cNvPr id="26" name="Text 21"/>
          <p:cNvSpPr/>
          <p:nvPr/>
        </p:nvSpPr>
        <p:spPr>
          <a:xfrm>
            <a:off x="6465038" y="3754096"/>
            <a:ext cx="2250337" cy="326827"/>
          </a:xfrm>
          <a:prstGeom prst="rect">
            <a:avLst/>
          </a:prstGeom>
          <a:noFill/>
          <a:ln/>
        </p:spPr>
        <p:txBody>
          <a:bodyPr wrap="square" lIns="0" tIns="119126" rIns="0" bIns="119126" rtlCol="0" anchor="ctr">
            <a:sp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6B6D4"/>
                </a:solidFill>
                <a:latin typeface="Exo 2 Bold" pitchFamily="34" charset="0"/>
                <a:ea typeface="Exo 2 Bold" pitchFamily="34" charset="-122"/>
                <a:cs typeface="Exo 2 Bold" pitchFamily="34" charset="-120"/>
              </a:rPr>
              <a:t>Task Accuracy</a:t>
            </a:r>
            <a:endParaRPr lang="en-US" sz="700" dirty="0"/>
          </a:p>
        </p:txBody>
      </p:sp>
      <p:sp>
        <p:nvSpPr>
          <p:cNvPr id="27" name="Text 22"/>
          <p:cNvSpPr/>
          <p:nvPr/>
        </p:nvSpPr>
        <p:spPr>
          <a:xfrm>
            <a:off x="4786313" y="4080923"/>
            <a:ext cx="1678725" cy="326827"/>
          </a:xfrm>
          <a:prstGeom prst="rect">
            <a:avLst/>
          </a:prstGeom>
          <a:noFill/>
          <a:ln/>
        </p:spPr>
        <p:txBody>
          <a:bodyPr wrap="square" lIns="0" tIns="119126" rIns="0" bIns="119126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Semantic Moat</a:t>
            </a:r>
            <a:endParaRPr lang="en-US" sz="750" dirty="0"/>
          </a:p>
        </p:txBody>
      </p:sp>
      <p:sp>
        <p:nvSpPr>
          <p:cNvPr id="28" name="Text 23"/>
          <p:cNvSpPr/>
          <p:nvPr/>
        </p:nvSpPr>
        <p:spPr>
          <a:xfrm>
            <a:off x="6465038" y="4080923"/>
            <a:ext cx="2250337" cy="326827"/>
          </a:xfrm>
          <a:prstGeom prst="rect">
            <a:avLst/>
          </a:prstGeom>
          <a:noFill/>
          <a:ln/>
        </p:spPr>
        <p:txBody>
          <a:bodyPr wrap="square" lIns="0" tIns="119126" rIns="0" bIns="119126" rtlCol="0" anchor="ctr">
            <a:sp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6B6D4"/>
                </a:solidFill>
                <a:latin typeface="Exo 2 Bold" pitchFamily="34" charset="0"/>
                <a:ea typeface="Exo 2 Bold" pitchFamily="34" charset="-122"/>
                <a:cs typeface="Exo 2 Bold" pitchFamily="34" charset="-120"/>
              </a:rPr>
              <a:t>Native Preservation</a:t>
            </a:r>
            <a:endParaRPr lang="en-US" sz="700" dirty="0"/>
          </a:p>
        </p:txBody>
      </p:sp>
      <p:sp>
        <p:nvSpPr>
          <p:cNvPr id="29" name="Shape 24"/>
          <p:cNvSpPr/>
          <p:nvPr/>
        </p:nvSpPr>
        <p:spPr>
          <a:xfrm>
            <a:off x="428625" y="4711303"/>
            <a:ext cx="8286750" cy="21788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30" name="Shape 25"/>
          <p:cNvSpPr/>
          <p:nvPr/>
        </p:nvSpPr>
        <p:spPr>
          <a:xfrm>
            <a:off x="428625" y="4711303"/>
            <a:ext cx="8286750" cy="7144"/>
          </a:xfrm>
          <a:prstGeom prst="rect">
            <a:avLst/>
          </a:prstGeom>
          <a:solidFill>
            <a:srgbClr val="ECECEE"/>
          </a:solidFill>
          <a:ln/>
        </p:spPr>
      </p:sp>
      <p:sp>
        <p:nvSpPr>
          <p:cNvPr id="31" name="Text 26"/>
          <p:cNvSpPr/>
          <p:nvPr/>
        </p:nvSpPr>
        <p:spPr>
          <a:xfrm>
            <a:off x="428625" y="4825603"/>
            <a:ext cx="794742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MAHAMAIA Systems</a:t>
            </a:r>
            <a:endParaRPr lang="en-US" sz="600" dirty="0"/>
          </a:p>
        </p:txBody>
      </p:sp>
      <p:sp>
        <p:nvSpPr>
          <p:cNvPr id="32" name="Text 27"/>
          <p:cNvSpPr/>
          <p:nvPr/>
        </p:nvSpPr>
        <p:spPr>
          <a:xfrm>
            <a:off x="8061722" y="4825603"/>
            <a:ext cx="653653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Seed Deck · 2026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42863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1"/>
          <p:cNvSpPr/>
          <p:nvPr/>
        </p:nvSpPr>
        <p:spPr>
          <a:xfrm>
            <a:off x="428625" y="285750"/>
            <a:ext cx="1518047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94A3B8"/>
                </a:solidFill>
                <a:latin typeface="Exo 2 SemiBold" pitchFamily="34" charset="0"/>
                <a:ea typeface="Exo 2 SemiBold" pitchFamily="34" charset="-122"/>
                <a:cs typeface="Exo 2 SemiBold" pitchFamily="34" charset="-120"/>
              </a:rPr>
              <a:t>06 // PERFORMANCE RESULTS</a:t>
            </a:r>
            <a:endParaRPr lang="en-US" sz="600" dirty="0"/>
          </a:p>
        </p:txBody>
      </p:sp>
      <p:sp>
        <p:nvSpPr>
          <p:cNvPr id="5" name="Text 2"/>
          <p:cNvSpPr/>
          <p:nvPr/>
        </p:nvSpPr>
        <p:spPr>
          <a:xfrm>
            <a:off x="428625" y="638361"/>
            <a:ext cx="8286750" cy="3600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100" b="1" dirty="0">
                <a:solidFill>
                  <a:srgbClr val="0F172A"/>
                </a:solidFill>
                <a:latin typeface="Exo 2 Bold" pitchFamily="34" charset="0"/>
                <a:ea typeface="Exo 2 Bold" pitchFamily="34" charset="-122"/>
                <a:cs typeface="Exo 2 Bold" pitchFamily="34" charset="-120"/>
              </a:rPr>
              <a:t>Performance that redefines the infrastructure.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428625" y="1427020"/>
            <a:ext cx="2609841" cy="1825228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7" name="Text 4"/>
          <p:cNvSpPr/>
          <p:nvPr/>
        </p:nvSpPr>
        <p:spPr>
          <a:xfrm>
            <a:off x="657225" y="1769920"/>
            <a:ext cx="2152641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3750" b="1" dirty="0">
                <a:solidFill>
                  <a:srgbClr val="06B6D4"/>
                </a:solidFill>
                <a:latin typeface="Exo 2 ExtraBold" pitchFamily="34" charset="0"/>
                <a:ea typeface="Exo 2 ExtraBold" pitchFamily="34" charset="-122"/>
                <a:cs typeface="Exo 2 ExtraBold" pitchFamily="34" charset="-120"/>
              </a:rPr>
              <a:t>62%</a:t>
            </a:r>
            <a:endParaRPr lang="en-US" sz="3750" dirty="0"/>
          </a:p>
        </p:txBody>
      </p:sp>
      <p:sp>
        <p:nvSpPr>
          <p:cNvPr id="8" name="Text 5"/>
          <p:cNvSpPr/>
          <p:nvPr/>
        </p:nvSpPr>
        <p:spPr>
          <a:xfrm>
            <a:off x="657225" y="2398570"/>
            <a:ext cx="2152641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spc="1" kern="0" dirty="0">
                <a:solidFill>
                  <a:srgbClr val="0F172A"/>
                </a:solidFill>
                <a:latin typeface="Exo 2 Bold" pitchFamily="34" charset="0"/>
                <a:ea typeface="Exo 2 Bold" pitchFamily="34" charset="-122"/>
                <a:cs typeface="Exo 2 Bold" pitchFamily="34" charset="-120"/>
              </a:rPr>
              <a:t>BITRATE REDUCTION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57225" y="2609310"/>
            <a:ext cx="2152641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Reduction for P-frames versus all-intra coding on surveillance video.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3267066" y="1427020"/>
            <a:ext cx="2609841" cy="1825228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1" name="Text 8"/>
          <p:cNvSpPr/>
          <p:nvPr/>
        </p:nvSpPr>
        <p:spPr>
          <a:xfrm>
            <a:off x="3495666" y="1769920"/>
            <a:ext cx="2152641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3750" b="1" dirty="0">
                <a:solidFill>
                  <a:srgbClr val="06B6D4"/>
                </a:solidFill>
                <a:latin typeface="Exo 2 ExtraBold" pitchFamily="34" charset="0"/>
                <a:ea typeface="Exo 2 ExtraBold" pitchFamily="34" charset="-122"/>
                <a:cs typeface="Exo 2 ExtraBold" pitchFamily="34" charset="-120"/>
              </a:rPr>
              <a:t>7.2pp</a:t>
            </a:r>
            <a:endParaRPr lang="en-US" sz="3750" dirty="0"/>
          </a:p>
        </p:txBody>
      </p:sp>
      <p:sp>
        <p:nvSpPr>
          <p:cNvPr id="12" name="Text 9"/>
          <p:cNvSpPr/>
          <p:nvPr/>
        </p:nvSpPr>
        <p:spPr>
          <a:xfrm>
            <a:off x="3495666" y="2398570"/>
            <a:ext cx="2152641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spc="1" kern="0" dirty="0">
                <a:solidFill>
                  <a:srgbClr val="0F172A"/>
                </a:solidFill>
                <a:latin typeface="Exo 2 Bold" pitchFamily="34" charset="0"/>
                <a:ea typeface="Exo 2 Bold" pitchFamily="34" charset="-122"/>
                <a:cs typeface="Exo 2 Bold" pitchFamily="34" charset="-120"/>
              </a:rPr>
              <a:t>ACCURACY GAIN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495666" y="2609310"/>
            <a:ext cx="2152641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Class accuracy advantage over H.265 at matched bitrates.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6105506" y="1427020"/>
            <a:ext cx="2609869" cy="1825228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5" name="Text 12"/>
          <p:cNvSpPr/>
          <p:nvPr/>
        </p:nvSpPr>
        <p:spPr>
          <a:xfrm>
            <a:off x="6334106" y="1769920"/>
            <a:ext cx="2152669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3750" b="1" dirty="0">
                <a:solidFill>
                  <a:srgbClr val="06B6D4"/>
                </a:solidFill>
                <a:latin typeface="Exo 2 ExtraBold" pitchFamily="34" charset="0"/>
                <a:ea typeface="Exo 2 ExtraBold" pitchFamily="34" charset="-122"/>
                <a:cs typeface="Exo 2 ExtraBold" pitchFamily="34" charset="-120"/>
              </a:rPr>
              <a:t>80+</a:t>
            </a:r>
            <a:endParaRPr lang="en-US" sz="3750" dirty="0"/>
          </a:p>
        </p:txBody>
      </p:sp>
      <p:sp>
        <p:nvSpPr>
          <p:cNvPr id="16" name="Text 13"/>
          <p:cNvSpPr/>
          <p:nvPr/>
        </p:nvSpPr>
        <p:spPr>
          <a:xfrm>
            <a:off x="6334106" y="2398570"/>
            <a:ext cx="2152669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spc="1" kern="0" dirty="0">
                <a:solidFill>
                  <a:srgbClr val="0F172A"/>
                </a:solidFill>
                <a:latin typeface="Exo 2 Bold" pitchFamily="34" charset="0"/>
                <a:ea typeface="Exo 2 Bold" pitchFamily="34" charset="-122"/>
                <a:cs typeface="Exo 2 Bold" pitchFamily="34" charset="-120"/>
              </a:rPr>
              <a:t>FPS THROUGHPUT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334106" y="2609310"/>
            <a:ext cx="2152669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Real-time capable on commodity edge hardware (NVIDIA T4).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428625" y="4711303"/>
            <a:ext cx="8286750" cy="21788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428625" y="4711303"/>
            <a:ext cx="8286750" cy="7144"/>
          </a:xfrm>
          <a:prstGeom prst="rect">
            <a:avLst/>
          </a:prstGeom>
          <a:solidFill>
            <a:srgbClr val="ECECEE"/>
          </a:solidFill>
          <a:ln/>
        </p:spPr>
      </p:sp>
      <p:sp>
        <p:nvSpPr>
          <p:cNvPr id="20" name="Text 17"/>
          <p:cNvSpPr/>
          <p:nvPr/>
        </p:nvSpPr>
        <p:spPr>
          <a:xfrm>
            <a:off x="428625" y="4825603"/>
            <a:ext cx="794742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MAHAMAIA Systems</a:t>
            </a:r>
            <a:endParaRPr lang="en-US" sz="600" dirty="0"/>
          </a:p>
        </p:txBody>
      </p:sp>
      <p:sp>
        <p:nvSpPr>
          <p:cNvPr id="21" name="Text 18"/>
          <p:cNvSpPr/>
          <p:nvPr/>
        </p:nvSpPr>
        <p:spPr>
          <a:xfrm>
            <a:off x="8061722" y="4825603"/>
            <a:ext cx="653653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Seed Deck · 2026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42863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1"/>
          <p:cNvSpPr/>
          <p:nvPr/>
        </p:nvSpPr>
        <p:spPr>
          <a:xfrm>
            <a:off x="428625" y="285750"/>
            <a:ext cx="812267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94A3B8"/>
                </a:solidFill>
                <a:latin typeface="Exo 2 SemiBold" pitchFamily="34" charset="0"/>
                <a:ea typeface="Exo 2 SemiBold" pitchFamily="34" charset="-122"/>
                <a:cs typeface="Exo 2 SemiBold" pitchFamily="34" charset="-120"/>
              </a:rPr>
              <a:t>07 // THE MOAT</a:t>
            </a:r>
            <a:endParaRPr lang="en-US" sz="600" dirty="0"/>
          </a:p>
        </p:txBody>
      </p:sp>
      <p:sp>
        <p:nvSpPr>
          <p:cNvPr id="5" name="Text 2"/>
          <p:cNvSpPr/>
          <p:nvPr/>
        </p:nvSpPr>
        <p:spPr>
          <a:xfrm>
            <a:off x="428625" y="638361"/>
            <a:ext cx="8286750" cy="720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100" b="1" dirty="0">
                <a:solidFill>
                  <a:srgbClr val="0F172A"/>
                </a:solidFill>
                <a:latin typeface="Exo 2 Bold" pitchFamily="34" charset="0"/>
                <a:ea typeface="Exo 2 Bold" pitchFamily="34" charset="-122"/>
                <a:cs typeface="Exo 2 Bold" pitchFamily="34" charset="-120"/>
              </a:rPr>
              <a:t>You don't need the best codec forever.</a:t>
            </a:r>
            <a:r>
              <a:rPr lang="en-US" sz="2100" b="1" dirty="0">
                <a:solidFill>
                  <a:srgbClr val="0F172A"/>
                </a:solidFill>
                <a:latin typeface="Exo 2 Bold" pitchFamily="34" charset="0"/>
                <a:ea typeface="Exo 2 Bold" pitchFamily="34" charset="-122"/>
                <a:cs typeface="Exo 2 Bold" pitchFamily="34" charset="-120"/>
              </a:rPr>
              <a:t>
</a:t>
            </a:r>
            <a:r>
              <a:rPr lang="en-US" sz="2100" b="1" dirty="0">
                <a:solidFill>
                  <a:srgbClr val="0F172A"/>
                </a:solidFill>
                <a:latin typeface="Exo 2 Bold" pitchFamily="34" charset="0"/>
                <a:ea typeface="Exo 2 Bold" pitchFamily="34" charset="-122"/>
                <a:cs typeface="Exo 2 Bold" pitchFamily="34" charset="-120"/>
              </a:rPr>
              <a:t>You need to define what "best" means.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428625" y="1644179"/>
            <a:ext cx="4029075" cy="1610581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7" name="Text 4"/>
          <p:cNvSpPr/>
          <p:nvPr/>
        </p:nvSpPr>
        <p:spPr>
          <a:xfrm>
            <a:off x="600075" y="1901354"/>
            <a:ext cx="3686175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1" kern="0" dirty="0">
                <a:solidFill>
                  <a:srgbClr val="64748B"/>
                </a:solidFill>
                <a:latin typeface="Exo 2 Bold" pitchFamily="34" charset="0"/>
                <a:ea typeface="Exo 2 Bold" pitchFamily="34" charset="-122"/>
                <a:cs typeface="Exo 2 Bold" pitchFamily="34" charset="-120"/>
              </a:rPr>
              <a:t>HISTORICAL PARALLEL</a:t>
            </a:r>
            <a:endParaRPr lang="en-US" sz="600" dirty="0"/>
          </a:p>
        </p:txBody>
      </p:sp>
      <p:sp>
        <p:nvSpPr>
          <p:cNvPr id="8" name="Text 5"/>
          <p:cNvSpPr/>
          <p:nvPr/>
        </p:nvSpPr>
        <p:spPr>
          <a:xfrm>
            <a:off x="600075" y="2213949"/>
            <a:ext cx="3686175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Exo 2 Bold" pitchFamily="34" charset="0"/>
                <a:ea typeface="Exo 2 Bold" pitchFamily="34" charset="-122"/>
                <a:cs typeface="Exo 2 Bold" pitchFamily="34" charset="-120"/>
              </a:rPr>
              <a:t>The BD-rate Precedent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00075" y="2503270"/>
            <a:ext cx="3686175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In 2001, a one-page document defined how to measure video codecs. For 25 </a:t>
            </a:r>
            <a:r>
              <a:rPr lang="en-US" sz="750" dirty="0">
                <a:solidFill>
                  <a:srgbClr val="64748B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years, every researcher has had to speak that language. </a:t>
            </a:r>
            <a:r>
              <a:rPr lang="en-US" sz="750" dirty="0">
                <a:solidFill>
                  <a:srgbClr val="06B6D4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LeWM-Eval</a:t>
            </a:r>
            <a:r>
              <a:rPr lang="en-US" sz="750" dirty="0">
                <a:solidFill>
                  <a:srgbClr val="64748B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 is the BD-</a:t>
            </a:r>
            <a:r>
              <a:rPr lang="en-US" sz="750" dirty="0">
                <a:solidFill>
                  <a:srgbClr val="64748B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rate for the machine-oriented era.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4686300" y="1644179"/>
            <a:ext cx="4029075" cy="1610581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1" name="Text 8"/>
          <p:cNvSpPr/>
          <p:nvPr/>
        </p:nvSpPr>
        <p:spPr>
          <a:xfrm>
            <a:off x="4857750" y="1901354"/>
            <a:ext cx="3686175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1" kern="0" dirty="0">
                <a:solidFill>
                  <a:srgbClr val="64748B"/>
                </a:solidFill>
                <a:latin typeface="Exo 2 Bold" pitchFamily="34" charset="0"/>
                <a:ea typeface="Exo 2 Bold" pitchFamily="34" charset="-122"/>
                <a:cs typeface="Exo 2 Bold" pitchFamily="34" charset="-120"/>
              </a:rPr>
              <a:t>BUSINESS MODEL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4857750" y="2213949"/>
            <a:ext cx="3686175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Exo 2 Bold" pitchFamily="34" charset="0"/>
                <a:ea typeface="Exo 2 Bold" pitchFamily="34" charset="-122"/>
                <a:cs typeface="Exo 2 Bold" pitchFamily="34" charset="-120"/>
              </a:rPr>
              <a:t>The Dolby Strategy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857750" y="2503270"/>
            <a:ext cx="3686175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Dolby doesn't build speakers; they build the </a:t>
            </a:r>
            <a:r>
              <a:rPr lang="en-US" sz="750" dirty="0">
                <a:solidFill>
                  <a:srgbClr val="06B6D4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certification</a:t>
            </a:r>
            <a:r>
              <a:rPr lang="en-US" sz="750" dirty="0">
                <a:solidFill>
                  <a:srgbClr val="64748B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 that speakers pay for. </a:t>
            </a:r>
            <a:r>
              <a:rPr lang="en-US" sz="750" dirty="0">
                <a:solidFill>
                  <a:srgbClr val="64748B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We are building the neutral measurement standard that the entire industry must </a:t>
            </a:r>
            <a:r>
              <a:rPr lang="en-US" sz="750" dirty="0">
                <a:solidFill>
                  <a:srgbClr val="64748B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adopt to prove compliance.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428625" y="3483359"/>
            <a:ext cx="8286750" cy="675084"/>
          </a:xfrm>
          <a:prstGeom prst="rect">
            <a:avLst/>
          </a:prstGeom>
          <a:solidFill>
            <a:srgbClr val="06B6D4">
              <a:alpha val="8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428625" y="3483359"/>
            <a:ext cx="28575" cy="67508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6" name="Text 13"/>
          <p:cNvSpPr/>
          <p:nvPr/>
        </p:nvSpPr>
        <p:spPr>
          <a:xfrm>
            <a:off x="642938" y="3654809"/>
            <a:ext cx="7858125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06B6D4"/>
                </a:solidFill>
                <a:latin typeface="Exo 2 Bold" pitchFamily="34" charset="0"/>
                <a:ea typeface="Exo 2 Bold" pitchFamily="34" charset="-122"/>
                <a:cs typeface="Exo 2 Bold" pitchFamily="34" charset="-120"/>
              </a:rPr>
              <a:t>MECHANICS OF THE MOAT</a:t>
            </a:r>
            <a:endParaRPr lang="en-US" sz="600" dirty="0"/>
          </a:p>
        </p:txBody>
      </p:sp>
      <p:sp>
        <p:nvSpPr>
          <p:cNvPr id="17" name="Text 14"/>
          <p:cNvSpPr/>
          <p:nvPr/>
        </p:nvSpPr>
        <p:spPr>
          <a:xfrm>
            <a:off x="642938" y="3815544"/>
            <a:ext cx="78581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Exo 2 SemiBold" pitchFamily="34" charset="0"/>
                <a:ea typeface="Exo 2 SemiBold" pitchFamily="34" charset="-122"/>
                <a:cs typeface="Exo 2 SemiBold" pitchFamily="34" charset="-120"/>
              </a:rPr>
              <a:t>MPEG VCM Integration · Research Dominance via CompressAI · Institutional Neutrality as an Independent Standard Maintainer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428625" y="4711303"/>
            <a:ext cx="8286750" cy="21788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428625" y="4711303"/>
            <a:ext cx="8286750" cy="7144"/>
          </a:xfrm>
          <a:prstGeom prst="rect">
            <a:avLst/>
          </a:prstGeom>
          <a:solidFill>
            <a:srgbClr val="ECECEE"/>
          </a:solidFill>
          <a:ln/>
        </p:spPr>
      </p:sp>
      <p:sp>
        <p:nvSpPr>
          <p:cNvPr id="20" name="Text 17"/>
          <p:cNvSpPr/>
          <p:nvPr/>
        </p:nvSpPr>
        <p:spPr>
          <a:xfrm>
            <a:off x="428625" y="4825603"/>
            <a:ext cx="794742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MAHAMAIA Systems</a:t>
            </a:r>
            <a:endParaRPr lang="en-US" sz="600" dirty="0"/>
          </a:p>
        </p:txBody>
      </p:sp>
      <p:sp>
        <p:nvSpPr>
          <p:cNvPr id="21" name="Text 18"/>
          <p:cNvSpPr/>
          <p:nvPr/>
        </p:nvSpPr>
        <p:spPr>
          <a:xfrm>
            <a:off x="8061722" y="4825603"/>
            <a:ext cx="653653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Seed Deck · 2026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42863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1"/>
          <p:cNvSpPr/>
          <p:nvPr/>
        </p:nvSpPr>
        <p:spPr>
          <a:xfrm>
            <a:off x="428625" y="285750"/>
            <a:ext cx="810481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94A3B8"/>
                </a:solidFill>
                <a:latin typeface="Exo 2 SemiBold" pitchFamily="34" charset="0"/>
                <a:ea typeface="Exo 2 SemiBold" pitchFamily="34" charset="-122"/>
                <a:cs typeface="Exo 2 SemiBold" pitchFamily="34" charset="-120"/>
              </a:rPr>
              <a:t>08 // TRACTION</a:t>
            </a:r>
            <a:endParaRPr lang="en-US" sz="600" dirty="0"/>
          </a:p>
        </p:txBody>
      </p:sp>
      <p:sp>
        <p:nvSpPr>
          <p:cNvPr id="5" name="Text 2"/>
          <p:cNvSpPr/>
          <p:nvPr/>
        </p:nvSpPr>
        <p:spPr>
          <a:xfrm>
            <a:off x="428625" y="638361"/>
            <a:ext cx="8286750" cy="3600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100" b="1" dirty="0">
                <a:solidFill>
                  <a:srgbClr val="0F172A"/>
                </a:solidFill>
                <a:latin typeface="Exo 2 Bold" pitchFamily="34" charset="0"/>
                <a:ea typeface="Exo 2 Bold" pitchFamily="34" charset="-122"/>
                <a:cs typeface="Exo 2 Bold" pitchFamily="34" charset="-120"/>
              </a:rPr>
              <a:t>Current Traction and Momentum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428625" y="1284145"/>
            <a:ext cx="2647931" cy="2714625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7" name="Text 4"/>
          <p:cNvSpPr/>
          <p:nvPr/>
        </p:nvSpPr>
        <p:spPr>
          <a:xfrm>
            <a:off x="642938" y="1584182"/>
            <a:ext cx="2219306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1" kern="0" dirty="0">
                <a:solidFill>
                  <a:srgbClr val="64748B"/>
                </a:solidFill>
                <a:latin typeface="Exo 2 Bold" pitchFamily="34" charset="0"/>
                <a:ea typeface="Exo 2 Bold" pitchFamily="34" charset="-122"/>
                <a:cs typeface="Exo 2 Bold" pitchFamily="34" charset="-120"/>
              </a:rPr>
              <a:t>OPEN SOURCE</a:t>
            </a:r>
            <a:endParaRPr lang="en-US" sz="600" dirty="0"/>
          </a:p>
        </p:txBody>
      </p:sp>
      <p:sp>
        <p:nvSpPr>
          <p:cNvPr id="8" name="Text 5"/>
          <p:cNvSpPr/>
          <p:nvPr/>
        </p:nvSpPr>
        <p:spPr>
          <a:xfrm>
            <a:off x="642938" y="1794923"/>
            <a:ext cx="2219306" cy="2053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Exo 2 Bold" pitchFamily="34" charset="0"/>
                <a:ea typeface="Exo 2 Bold" pitchFamily="34" charset="-122"/>
                <a:cs typeface="Exo 2 Bold" pitchFamily="34" charset="-120"/>
              </a:rPr>
              <a:t>Code &amp; Models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2938" y="2143181"/>
            <a:ext cx="2219306" cy="15001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Public code repository live on GitHub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642938" y="2378925"/>
            <a:ext cx="2219306" cy="15001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Pretrained checkpoints for LeWM-VC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642938" y="2614668"/>
            <a:ext cx="2219306" cy="15001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Reproducibility posture established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642938" y="3641582"/>
            <a:ext cx="990860" cy="142875"/>
          </a:xfrm>
          <a:prstGeom prst="roundRect">
            <a:avLst/>
          </a:prstGeom>
          <a:solidFill>
            <a:srgbClr val="06B6D4">
              <a:alpha val="10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642938" y="3641582"/>
            <a:ext cx="990860" cy="142875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06B6D4"/>
                </a:solidFill>
                <a:latin typeface="Exo 2 Bold" pitchFamily="34" charset="0"/>
                <a:ea typeface="Exo 2 Bold" pitchFamily="34" charset="-122"/>
                <a:cs typeface="Exo 2 Bold" pitchFamily="34" charset="-120"/>
              </a:rPr>
              <a:t>ACTIVE DEVELOPMENT</a:t>
            </a:r>
            <a:endParaRPr lang="en-US" sz="500" dirty="0"/>
          </a:p>
        </p:txBody>
      </p:sp>
      <p:sp>
        <p:nvSpPr>
          <p:cNvPr id="14" name="Shape 11"/>
          <p:cNvSpPr/>
          <p:nvPr/>
        </p:nvSpPr>
        <p:spPr>
          <a:xfrm>
            <a:off x="3248006" y="1284145"/>
            <a:ext cx="2647959" cy="2714625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5" name="Text 12"/>
          <p:cNvSpPr/>
          <p:nvPr/>
        </p:nvSpPr>
        <p:spPr>
          <a:xfrm>
            <a:off x="642938" y="2143181"/>
            <a:ext cx="3036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06B6D4"/>
                </a:solidFill>
                <a:latin typeface="Exo 2 Bold" pitchFamily="34" charset="0"/>
                <a:ea typeface="Exo 2 Bold" pitchFamily="34" charset="-122"/>
                <a:cs typeface="Exo 2 Bold" pitchFamily="34" charset="-120"/>
              </a:rPr>
              <a:t>›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642938" y="2378925"/>
            <a:ext cx="3036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06B6D4"/>
                </a:solidFill>
                <a:latin typeface="Exo 2 Bold" pitchFamily="34" charset="0"/>
                <a:ea typeface="Exo 2 Bold" pitchFamily="34" charset="-122"/>
                <a:cs typeface="Exo 2 Bold" pitchFamily="34" charset="-120"/>
              </a:rPr>
              <a:t>›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642938" y="2614668"/>
            <a:ext cx="3036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06B6D4"/>
                </a:solidFill>
                <a:latin typeface="Exo 2 Bold" pitchFamily="34" charset="0"/>
                <a:ea typeface="Exo 2 Bold" pitchFamily="34" charset="-122"/>
                <a:cs typeface="Exo 2 Bold" pitchFamily="34" charset="-120"/>
              </a:rPr>
              <a:t>›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3462319" y="1584182"/>
            <a:ext cx="2219334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1" kern="0" dirty="0">
                <a:solidFill>
                  <a:srgbClr val="64748B"/>
                </a:solidFill>
                <a:latin typeface="Exo 2 Bold" pitchFamily="34" charset="0"/>
                <a:ea typeface="Exo 2 Bold" pitchFamily="34" charset="-122"/>
                <a:cs typeface="Exo 2 Bold" pitchFamily="34" charset="-120"/>
              </a:rPr>
              <a:t>COMMUNITY</a:t>
            </a:r>
            <a:endParaRPr lang="en-US" sz="600" dirty="0"/>
          </a:p>
        </p:txBody>
      </p:sp>
      <p:sp>
        <p:nvSpPr>
          <p:cNvPr id="19" name="Text 16"/>
          <p:cNvSpPr/>
          <p:nvPr/>
        </p:nvSpPr>
        <p:spPr>
          <a:xfrm>
            <a:off x="3462319" y="1794923"/>
            <a:ext cx="2219334" cy="2053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Exo 2 Bold" pitchFamily="34" charset="0"/>
                <a:ea typeface="Exo 2 Bold" pitchFamily="34" charset="-122"/>
                <a:cs typeface="Exo 2 Bold" pitchFamily="34" charset="-120"/>
              </a:rPr>
              <a:t>Engagement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462319" y="2143181"/>
            <a:ext cx="2219334" cy="15001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LeWM-Eval package on PyPI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3462319" y="2378925"/>
            <a:ext cx="2219334" cy="15001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arXiv preprint with active downloads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3462319" y="2614668"/>
            <a:ext cx="2219334" cy="15001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Cross-codec leaderboard entries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3462319" y="3641582"/>
            <a:ext cx="783692" cy="142875"/>
          </a:xfrm>
          <a:prstGeom prst="roundRect">
            <a:avLst/>
          </a:prstGeom>
          <a:solidFill>
            <a:srgbClr val="06B6D4">
              <a:alpha val="10000"/>
            </a:srgbClr>
          </a:solidFill>
          <a:ln/>
        </p:spPr>
      </p:sp>
      <p:sp>
        <p:nvSpPr>
          <p:cNvPr id="24" name="Text 21"/>
          <p:cNvSpPr/>
          <p:nvPr/>
        </p:nvSpPr>
        <p:spPr>
          <a:xfrm>
            <a:off x="3462319" y="3641582"/>
            <a:ext cx="783692" cy="142875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06B6D4"/>
                </a:solidFill>
                <a:latin typeface="Exo 2 Bold" pitchFamily="34" charset="0"/>
                <a:ea typeface="Exo 2 Bold" pitchFamily="34" charset="-122"/>
                <a:cs typeface="Exo 2 Bold" pitchFamily="34" charset="-120"/>
              </a:rPr>
              <a:t>GROWING REACH</a:t>
            </a:r>
            <a:endParaRPr lang="en-US" sz="500" dirty="0"/>
          </a:p>
        </p:txBody>
      </p:sp>
      <p:sp>
        <p:nvSpPr>
          <p:cNvPr id="25" name="Shape 22"/>
          <p:cNvSpPr/>
          <p:nvPr/>
        </p:nvSpPr>
        <p:spPr>
          <a:xfrm>
            <a:off x="6067416" y="1284145"/>
            <a:ext cx="2647931" cy="2714625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26" name="Text 23"/>
          <p:cNvSpPr/>
          <p:nvPr/>
        </p:nvSpPr>
        <p:spPr>
          <a:xfrm>
            <a:off x="3462319" y="2143181"/>
            <a:ext cx="3036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06B6D4"/>
                </a:solidFill>
                <a:latin typeface="Exo 2 Bold" pitchFamily="34" charset="0"/>
                <a:ea typeface="Exo 2 Bold" pitchFamily="34" charset="-122"/>
                <a:cs typeface="Exo 2 Bold" pitchFamily="34" charset="-120"/>
              </a:rPr>
              <a:t>›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3462319" y="2378925"/>
            <a:ext cx="3036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06B6D4"/>
                </a:solidFill>
                <a:latin typeface="Exo 2 Bold" pitchFamily="34" charset="0"/>
                <a:ea typeface="Exo 2 Bold" pitchFamily="34" charset="-122"/>
                <a:cs typeface="Exo 2 Bold" pitchFamily="34" charset="-120"/>
              </a:rPr>
              <a:t>›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3462319" y="2614668"/>
            <a:ext cx="3036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06B6D4"/>
                </a:solidFill>
                <a:latin typeface="Exo 2 Bold" pitchFamily="34" charset="0"/>
                <a:ea typeface="Exo 2 Bold" pitchFamily="34" charset="-122"/>
                <a:cs typeface="Exo 2 Bold" pitchFamily="34" charset="-120"/>
              </a:rPr>
              <a:t>›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6281728" y="1584182"/>
            <a:ext cx="2219306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1" kern="0" dirty="0">
                <a:solidFill>
                  <a:srgbClr val="64748B"/>
                </a:solidFill>
                <a:latin typeface="Exo 2 Bold" pitchFamily="34" charset="0"/>
                <a:ea typeface="Exo 2 Bold" pitchFamily="34" charset="-122"/>
                <a:cs typeface="Exo 2 Bold" pitchFamily="34" charset="-120"/>
              </a:rPr>
              <a:t>STRATEGIC</a:t>
            </a:r>
            <a:endParaRPr lang="en-US" sz="600" dirty="0"/>
          </a:p>
        </p:txBody>
      </p:sp>
      <p:sp>
        <p:nvSpPr>
          <p:cNvPr id="30" name="Text 27"/>
          <p:cNvSpPr/>
          <p:nvPr/>
        </p:nvSpPr>
        <p:spPr>
          <a:xfrm>
            <a:off x="6281728" y="1794923"/>
            <a:ext cx="2219306" cy="2053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Exo 2 Bold" pitchFamily="34" charset="0"/>
                <a:ea typeface="Exo 2 Bold" pitchFamily="34" charset="-122"/>
                <a:cs typeface="Exo 2 Bold" pitchFamily="34" charset="-120"/>
              </a:rPr>
              <a:t>Partnerships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6281728" y="2143181"/>
            <a:ext cx="2219306" cy="15001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AMD MI300X compute partnership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6281728" y="2378925"/>
            <a:ext cx="2219306" cy="15001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MPEG VCM standardization access</a:t>
            </a:r>
            <a:endParaRPr lang="en-US" sz="750" dirty="0"/>
          </a:p>
        </p:txBody>
      </p:sp>
      <p:sp>
        <p:nvSpPr>
          <p:cNvPr id="33" name="Text 30"/>
          <p:cNvSpPr/>
          <p:nvPr/>
        </p:nvSpPr>
        <p:spPr>
          <a:xfrm>
            <a:off x="6281728" y="2614668"/>
            <a:ext cx="2219306" cy="15001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Design partner outreach initiated</a:t>
            </a:r>
            <a:endParaRPr lang="en-US" sz="750" dirty="0"/>
          </a:p>
        </p:txBody>
      </p:sp>
      <p:sp>
        <p:nvSpPr>
          <p:cNvPr id="34" name="Shape 31"/>
          <p:cNvSpPr/>
          <p:nvPr/>
        </p:nvSpPr>
        <p:spPr>
          <a:xfrm>
            <a:off x="6281728" y="3641582"/>
            <a:ext cx="901564" cy="142875"/>
          </a:xfrm>
          <a:prstGeom prst="roundRect">
            <a:avLst/>
          </a:prstGeom>
          <a:solidFill>
            <a:srgbClr val="06B6D4">
              <a:alpha val="10000"/>
            </a:srgbClr>
          </a:solidFill>
          <a:ln/>
        </p:spPr>
      </p:sp>
      <p:sp>
        <p:nvSpPr>
          <p:cNvPr id="35" name="Text 32"/>
          <p:cNvSpPr/>
          <p:nvPr/>
        </p:nvSpPr>
        <p:spPr>
          <a:xfrm>
            <a:off x="6281728" y="3641582"/>
            <a:ext cx="901564" cy="142875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06B6D4"/>
                </a:solidFill>
                <a:latin typeface="Exo 2 Bold" pitchFamily="34" charset="0"/>
                <a:ea typeface="Exo 2 Bold" pitchFamily="34" charset="-122"/>
                <a:cs typeface="Exo 2 Bold" pitchFamily="34" charset="-120"/>
              </a:rPr>
              <a:t>INSTITUTIONAL TIES</a:t>
            </a:r>
            <a:endParaRPr lang="en-US" sz="500" dirty="0"/>
          </a:p>
        </p:txBody>
      </p:sp>
      <p:sp>
        <p:nvSpPr>
          <p:cNvPr id="36" name="Shape 33"/>
          <p:cNvSpPr/>
          <p:nvPr/>
        </p:nvSpPr>
        <p:spPr>
          <a:xfrm>
            <a:off x="428625" y="4711303"/>
            <a:ext cx="8286750" cy="21788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37" name="Shape 34"/>
          <p:cNvSpPr/>
          <p:nvPr/>
        </p:nvSpPr>
        <p:spPr>
          <a:xfrm>
            <a:off x="428625" y="4711303"/>
            <a:ext cx="8286750" cy="7144"/>
          </a:xfrm>
          <a:prstGeom prst="rect">
            <a:avLst/>
          </a:prstGeom>
          <a:solidFill>
            <a:srgbClr val="ECECEE"/>
          </a:solidFill>
          <a:ln/>
        </p:spPr>
      </p:sp>
      <p:sp>
        <p:nvSpPr>
          <p:cNvPr id="38" name="Text 35"/>
          <p:cNvSpPr/>
          <p:nvPr/>
        </p:nvSpPr>
        <p:spPr>
          <a:xfrm>
            <a:off x="6281728" y="2143181"/>
            <a:ext cx="3036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06B6D4"/>
                </a:solidFill>
                <a:latin typeface="Exo 2 Bold" pitchFamily="34" charset="0"/>
                <a:ea typeface="Exo 2 Bold" pitchFamily="34" charset="-122"/>
                <a:cs typeface="Exo 2 Bold" pitchFamily="34" charset="-120"/>
              </a:rPr>
              <a:t>›</a:t>
            </a:r>
            <a:endParaRPr lang="en-US" sz="700" dirty="0"/>
          </a:p>
        </p:txBody>
      </p:sp>
      <p:sp>
        <p:nvSpPr>
          <p:cNvPr id="39" name="Text 36"/>
          <p:cNvSpPr/>
          <p:nvPr/>
        </p:nvSpPr>
        <p:spPr>
          <a:xfrm>
            <a:off x="6281728" y="2378925"/>
            <a:ext cx="3036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06B6D4"/>
                </a:solidFill>
                <a:latin typeface="Exo 2 Bold" pitchFamily="34" charset="0"/>
                <a:ea typeface="Exo 2 Bold" pitchFamily="34" charset="-122"/>
                <a:cs typeface="Exo 2 Bold" pitchFamily="34" charset="-120"/>
              </a:rPr>
              <a:t>›</a:t>
            </a:r>
            <a:endParaRPr lang="en-US" sz="700" dirty="0"/>
          </a:p>
        </p:txBody>
      </p:sp>
      <p:sp>
        <p:nvSpPr>
          <p:cNvPr id="40" name="Text 37"/>
          <p:cNvSpPr/>
          <p:nvPr/>
        </p:nvSpPr>
        <p:spPr>
          <a:xfrm>
            <a:off x="6281728" y="2614668"/>
            <a:ext cx="3036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06B6D4"/>
                </a:solidFill>
                <a:latin typeface="Exo 2 Bold" pitchFamily="34" charset="0"/>
                <a:ea typeface="Exo 2 Bold" pitchFamily="34" charset="-122"/>
                <a:cs typeface="Exo 2 Bold" pitchFamily="34" charset="-120"/>
              </a:rPr>
              <a:t>›</a:t>
            </a:r>
            <a:endParaRPr lang="en-US" sz="700" dirty="0"/>
          </a:p>
        </p:txBody>
      </p:sp>
      <p:sp>
        <p:nvSpPr>
          <p:cNvPr id="41" name="Text 38"/>
          <p:cNvSpPr/>
          <p:nvPr/>
        </p:nvSpPr>
        <p:spPr>
          <a:xfrm>
            <a:off x="428625" y="4825603"/>
            <a:ext cx="794742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MAHAMAIA Systems</a:t>
            </a:r>
            <a:endParaRPr lang="en-US" sz="600" dirty="0"/>
          </a:p>
        </p:txBody>
      </p:sp>
      <p:sp>
        <p:nvSpPr>
          <p:cNvPr id="42" name="Text 39"/>
          <p:cNvSpPr/>
          <p:nvPr/>
        </p:nvSpPr>
        <p:spPr>
          <a:xfrm>
            <a:off x="8061722" y="4825603"/>
            <a:ext cx="653653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Seed Deck · 2026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42863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1"/>
          <p:cNvSpPr/>
          <p:nvPr/>
        </p:nvSpPr>
        <p:spPr>
          <a:xfrm>
            <a:off x="428625" y="285750"/>
            <a:ext cx="8715375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94A3B8"/>
                </a:solidFill>
                <a:latin typeface="Exo 2 SemiBold" pitchFamily="34" charset="0"/>
                <a:ea typeface="Exo 2 SemiBold" pitchFamily="34" charset="-122"/>
                <a:cs typeface="Exo 2 SemiBold" pitchFamily="34" charset="-120"/>
              </a:rPr>
              <a:t>09 // MARKET OPPORTUNITY</a:t>
            </a:r>
            <a:endParaRPr lang="en-US" sz="600" dirty="0"/>
          </a:p>
        </p:txBody>
      </p:sp>
      <p:sp>
        <p:nvSpPr>
          <p:cNvPr id="5" name="Text 2"/>
          <p:cNvSpPr/>
          <p:nvPr/>
        </p:nvSpPr>
        <p:spPr>
          <a:xfrm>
            <a:off x="428625" y="638361"/>
            <a:ext cx="8286750" cy="3600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100" b="1" dirty="0">
                <a:solidFill>
                  <a:srgbClr val="0F172A"/>
                </a:solidFill>
                <a:latin typeface="Exo 2 Bold" pitchFamily="34" charset="0"/>
                <a:ea typeface="Exo 2 Bold" pitchFamily="34" charset="-122"/>
                <a:cs typeface="Exo 2 Bold" pitchFamily="34" charset="-120"/>
              </a:rPr>
              <a:t>Building the market from first principles.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428625" y="1369870"/>
            <a:ext cx="4714875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1" kern="0" dirty="0">
                <a:solidFill>
                  <a:srgbClr val="64748B"/>
                </a:solidFill>
                <a:latin typeface="Exo 2 Bold" pitchFamily="34" charset="0"/>
                <a:ea typeface="Exo 2 Bold" pitchFamily="34" charset="-122"/>
                <a:cs typeface="Exo 2 Bold" pitchFamily="34" charset="-120"/>
              </a:rPr>
              <a:t>BEACHHEAD: GDPR SMART CITIES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428625" y="1616329"/>
            <a:ext cx="3017509" cy="398264"/>
          </a:xfrm>
          <a:prstGeom prst="rect">
            <a:avLst/>
          </a:prstGeom>
          <a:noFill/>
          <a:ln/>
        </p:spPr>
        <p:txBody>
          <a:bodyPr wrap="square" lIns="0" tIns="153035" rIns="0" bIns="153035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Annual Camera Deployments (EU/UK)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3446134" y="1616329"/>
            <a:ext cx="1697366" cy="398264"/>
          </a:xfrm>
          <a:prstGeom prst="rect">
            <a:avLst/>
          </a:prstGeom>
          <a:noFill/>
          <a:ln/>
        </p:spPr>
        <p:txBody>
          <a:bodyPr wrap="square" lIns="0" tIns="153035" rIns="0" bIns="153035" rtlCol="0" anchor="ctr">
            <a:sp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Exo 2 Bold" pitchFamily="34" charset="0"/>
                <a:ea typeface="Exo 2 Bold" pitchFamily="34" charset="-122"/>
                <a:cs typeface="Exo 2 Bold" pitchFamily="34" charset="-120"/>
              </a:rPr>
              <a:t>8,000,000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28625" y="2014593"/>
            <a:ext cx="3017509" cy="401836"/>
          </a:xfrm>
          <a:prstGeom prst="rect">
            <a:avLst/>
          </a:prstGeom>
          <a:noFill/>
          <a:ln/>
        </p:spPr>
        <p:txBody>
          <a:bodyPr wrap="square" lIns="0" tIns="153035" rIns="0" bIns="153035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Smart/Enterprise Segment (25%)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3446134" y="2014593"/>
            <a:ext cx="1697366" cy="401836"/>
          </a:xfrm>
          <a:prstGeom prst="rect">
            <a:avLst/>
          </a:prstGeom>
          <a:noFill/>
          <a:ln/>
        </p:spPr>
        <p:txBody>
          <a:bodyPr wrap="square" lIns="0" tIns="153035" rIns="0" bIns="153035" rtlCol="0" anchor="ctr">
            <a:sp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Exo 2 Bold" pitchFamily="34" charset="0"/>
                <a:ea typeface="Exo 2 Bold" pitchFamily="34" charset="-122"/>
                <a:cs typeface="Exo 2 Bold" pitchFamily="34" charset="-120"/>
              </a:rPr>
              <a:t>2,000,000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428625" y="2416429"/>
            <a:ext cx="3017509" cy="401836"/>
          </a:xfrm>
          <a:prstGeom prst="rect">
            <a:avLst/>
          </a:prstGeom>
          <a:noFill/>
          <a:ln/>
        </p:spPr>
        <p:txBody>
          <a:bodyPr wrap="square" lIns="0" tIns="153035" rIns="0" bIns="153035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Target SDK License Fee / Unit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3446134" y="2416429"/>
            <a:ext cx="1697366" cy="401836"/>
          </a:xfrm>
          <a:prstGeom prst="rect">
            <a:avLst/>
          </a:prstGeom>
          <a:noFill/>
          <a:ln/>
        </p:spPr>
        <p:txBody>
          <a:bodyPr wrap="square" lIns="0" tIns="153035" rIns="0" bIns="153035" rtlCol="0" anchor="ctr">
            <a:sp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Exo 2 Bold" pitchFamily="34" charset="0"/>
                <a:ea typeface="Exo 2 Bold" pitchFamily="34" charset="-122"/>
                <a:cs typeface="Exo 2 Bold" pitchFamily="34" charset="-120"/>
              </a:rPr>
              <a:t>$50.00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428625" y="2818265"/>
            <a:ext cx="3017509" cy="689372"/>
          </a:xfrm>
          <a:prstGeom prst="rect">
            <a:avLst/>
          </a:prstGeom>
          <a:noFill/>
          <a:ln/>
        </p:spPr>
        <p:txBody>
          <a:bodyPr wrap="square" lIns="0" tIns="255143" rIns="0" bIns="153035" rtlCol="0" anchor="ctr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6B6D4"/>
                </a:solidFill>
                <a:latin typeface="Exo 2 Bold" pitchFamily="34" charset="0"/>
                <a:ea typeface="Exo 2 Bold" pitchFamily="34" charset="-122"/>
                <a:cs typeface="Exo 2 Bold" pitchFamily="34" charset="-120"/>
              </a:rPr>
              <a:t>ADDRESSABLE BEACHHEAD ARR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3446134" y="2818265"/>
            <a:ext cx="1697366" cy="689372"/>
          </a:xfrm>
          <a:prstGeom prst="rect">
            <a:avLst/>
          </a:prstGeom>
          <a:noFill/>
          <a:ln/>
        </p:spPr>
        <p:txBody>
          <a:bodyPr wrap="square" lIns="0" tIns="255143" rIns="0" bIns="153035" rtlCol="0" anchor="ctr">
            <a:spAutoFit/>
          </a:bodyPr>
          <a:lstStyle/>
          <a:p>
            <a:pPr algn="r" indent="0" marL="0">
              <a:lnSpc>
                <a:spcPct val="80000"/>
              </a:lnSpc>
              <a:buNone/>
            </a:pPr>
            <a:r>
              <a:rPr lang="en-US" sz="2450" b="1" dirty="0">
                <a:solidFill>
                  <a:srgbClr val="0F172A"/>
                </a:solidFill>
                <a:latin typeface="Exo 2 Bold" pitchFamily="34" charset="0"/>
                <a:ea typeface="Exo 2 Bold" pitchFamily="34" charset="-122"/>
                <a:cs typeface="Exo 2 Bold" pitchFamily="34" charset="-120"/>
              </a:rPr>
              <a:t>$100M</a:t>
            </a:r>
            <a:endParaRPr lang="en-US" sz="2450" dirty="0"/>
          </a:p>
        </p:txBody>
      </p:sp>
      <p:sp>
        <p:nvSpPr>
          <p:cNvPr id="15" name="Shape 12"/>
          <p:cNvSpPr/>
          <p:nvPr/>
        </p:nvSpPr>
        <p:spPr>
          <a:xfrm>
            <a:off x="5572125" y="1284145"/>
            <a:ext cx="3143250" cy="1187537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6" name="Text 13"/>
          <p:cNvSpPr/>
          <p:nvPr/>
        </p:nvSpPr>
        <p:spPr>
          <a:xfrm>
            <a:off x="5743575" y="1626598"/>
            <a:ext cx="2800350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Exo 2 Bold" pitchFamily="34" charset="0"/>
                <a:ea typeface="Exo 2 Bold" pitchFamily="34" charset="-122"/>
                <a:cs typeface="Exo 2 Bold" pitchFamily="34" charset="-120"/>
              </a:rPr>
              <a:t>Global Expansion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743575" y="1880202"/>
            <a:ext cx="2800350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Autonomous Vehicles, Industrial Inspection, and Logistics </a:t>
            </a:r>
            <a:r>
              <a:rPr lang="en-US" sz="750" dirty="0">
                <a:solidFill>
                  <a:srgbClr val="64748B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provide a </a:t>
            </a:r>
            <a:r>
              <a:rPr lang="en-US" sz="700" b="1" dirty="0">
                <a:solidFill>
                  <a:srgbClr val="06B6D4"/>
                </a:solidFill>
                <a:latin typeface="Exo 2 Bold" pitchFamily="34" charset="0"/>
                <a:ea typeface="Exo 2 Bold" pitchFamily="34" charset="-122"/>
                <a:cs typeface="Exo 2 Bold" pitchFamily="34" charset="-120"/>
              </a:rPr>
              <a:t>10x multiplier</a:t>
            </a:r>
            <a:r>
              <a:rPr lang="en-US" sz="750" dirty="0">
                <a:solidFill>
                  <a:srgbClr val="64748B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, targeting a </a:t>
            </a:r>
            <a:r>
              <a:rPr lang="en-US" sz="700" b="1" dirty="0">
                <a:solidFill>
                  <a:srgbClr val="06B6D4"/>
                </a:solidFill>
                <a:latin typeface="Exo 2 Bold" pitchFamily="34" charset="0"/>
                <a:ea typeface="Exo 2 Bold" pitchFamily="34" charset="-122"/>
                <a:cs typeface="Exo 2 Bold" pitchFamily="34" charset="-120"/>
              </a:rPr>
              <a:t>$1B+ ARR</a:t>
            </a:r>
            <a:r>
              <a:rPr lang="en-US" sz="750" dirty="0">
                <a:solidFill>
                  <a:srgbClr val="64748B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 outcome.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5572125" y="2643132"/>
            <a:ext cx="3143250" cy="1347546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9" name="Text 16"/>
          <p:cNvSpPr/>
          <p:nvPr/>
        </p:nvSpPr>
        <p:spPr>
          <a:xfrm>
            <a:off x="5743575" y="2985585"/>
            <a:ext cx="2800350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Exo 2 Bold" pitchFamily="34" charset="0"/>
                <a:ea typeface="Exo 2 Bold" pitchFamily="34" charset="-122"/>
                <a:cs typeface="Exo 2 Bold" pitchFamily="34" charset="-120"/>
              </a:rPr>
              <a:t>Certification Layer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743575" y="3239188"/>
            <a:ext cx="2800350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LeWM-Eval certification for 50+ major camera OEMs at </a:t>
            </a:r>
            <a:r>
              <a:rPr lang="en-US" sz="750" dirty="0">
                <a:solidFill>
                  <a:srgbClr val="64748B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$200K/year adds </a:t>
            </a:r>
            <a:r>
              <a:rPr lang="en-US" sz="700" b="1" dirty="0">
                <a:solidFill>
                  <a:srgbClr val="06B6D4"/>
                </a:solidFill>
                <a:latin typeface="Exo 2 Bold" pitchFamily="34" charset="0"/>
                <a:ea typeface="Exo 2 Bold" pitchFamily="34" charset="-122"/>
                <a:cs typeface="Exo 2 Bold" pitchFamily="34" charset="-120"/>
              </a:rPr>
              <a:t>$10M high-margin ARR</a:t>
            </a:r>
            <a:r>
              <a:rPr lang="en-US" sz="750" dirty="0">
                <a:solidFill>
                  <a:srgbClr val="64748B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 from the standard </a:t>
            </a:r>
            <a:r>
              <a:rPr lang="en-US" sz="750" dirty="0">
                <a:solidFill>
                  <a:srgbClr val="64748B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play alone.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428625" y="4711303"/>
            <a:ext cx="8286750" cy="21788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428625" y="4711303"/>
            <a:ext cx="8286750" cy="7144"/>
          </a:xfrm>
          <a:prstGeom prst="rect">
            <a:avLst/>
          </a:prstGeom>
          <a:solidFill>
            <a:srgbClr val="ECECEE"/>
          </a:solidFill>
          <a:ln/>
        </p:spPr>
      </p:sp>
      <p:sp>
        <p:nvSpPr>
          <p:cNvPr id="23" name="Text 20"/>
          <p:cNvSpPr/>
          <p:nvPr/>
        </p:nvSpPr>
        <p:spPr>
          <a:xfrm>
            <a:off x="428625" y="4825603"/>
            <a:ext cx="794742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MAHAMAIA Systems</a:t>
            </a:r>
            <a:endParaRPr lang="en-US" sz="600" dirty="0"/>
          </a:p>
        </p:txBody>
      </p:sp>
      <p:sp>
        <p:nvSpPr>
          <p:cNvPr id="24" name="Text 21"/>
          <p:cNvSpPr/>
          <p:nvPr/>
        </p:nvSpPr>
        <p:spPr>
          <a:xfrm>
            <a:off x="8061722" y="4825603"/>
            <a:ext cx="653653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Seed Deck · 2026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42863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1"/>
          <p:cNvSpPr/>
          <p:nvPr/>
        </p:nvSpPr>
        <p:spPr>
          <a:xfrm>
            <a:off x="428625" y="285750"/>
            <a:ext cx="1169789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94A3B8"/>
                </a:solidFill>
                <a:latin typeface="Exo 2 SemiBold" pitchFamily="34" charset="0"/>
                <a:ea typeface="Exo 2 SemiBold" pitchFamily="34" charset="-122"/>
                <a:cs typeface="Exo 2 SemiBold" pitchFamily="34" charset="-120"/>
              </a:rPr>
              <a:t>10 // BUSINESS MODEL</a:t>
            </a:r>
            <a:endParaRPr lang="en-US" sz="600" dirty="0"/>
          </a:p>
        </p:txBody>
      </p:sp>
      <p:sp>
        <p:nvSpPr>
          <p:cNvPr id="5" name="Text 2"/>
          <p:cNvSpPr/>
          <p:nvPr/>
        </p:nvSpPr>
        <p:spPr>
          <a:xfrm>
            <a:off x="428625" y="638361"/>
            <a:ext cx="8286750" cy="3600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100" b="1" dirty="0">
                <a:solidFill>
                  <a:srgbClr val="0F172A"/>
                </a:solidFill>
                <a:latin typeface="Exo 2 Bold" pitchFamily="34" charset="0"/>
                <a:ea typeface="Exo 2 Bold" pitchFamily="34" charset="-122"/>
                <a:cs typeface="Exo 2 Bold" pitchFamily="34" charset="-120"/>
              </a:rPr>
              <a:t>Multi-Stream Revenue Strategy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428625" y="1284145"/>
            <a:ext cx="2647931" cy="2714625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7" name="Text 4"/>
          <p:cNvSpPr/>
          <p:nvPr/>
        </p:nvSpPr>
        <p:spPr>
          <a:xfrm>
            <a:off x="642938" y="1577039"/>
            <a:ext cx="2219306" cy="94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b="1" spc="1" kern="0" dirty="0">
                <a:solidFill>
                  <a:srgbClr val="64748B"/>
                </a:solidFill>
                <a:latin typeface="Exo 2 Bold" pitchFamily="34" charset="0"/>
                <a:ea typeface="Exo 2 Bold" pitchFamily="34" charset="-122"/>
                <a:cs typeface="Exo 2 Bold" pitchFamily="34" charset="-120"/>
              </a:rPr>
              <a:t>SHORT TERM</a:t>
            </a:r>
            <a:endParaRPr lang="en-US" sz="550" dirty="0"/>
          </a:p>
        </p:txBody>
      </p:sp>
      <p:sp>
        <p:nvSpPr>
          <p:cNvPr id="8" name="Text 5"/>
          <p:cNvSpPr/>
          <p:nvPr/>
        </p:nvSpPr>
        <p:spPr>
          <a:xfrm>
            <a:off x="642938" y="1778850"/>
            <a:ext cx="2219306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Exo 2 Bold" pitchFamily="34" charset="0"/>
                <a:ea typeface="Exo 2 Bold" pitchFamily="34" charset="-122"/>
                <a:cs typeface="Exo 2 Bold" pitchFamily="34" charset="-120"/>
              </a:rPr>
              <a:t>SaaS / Edge SDK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2938" y="2227455"/>
            <a:ext cx="2219306" cy="640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Per-camera-per-month subscription for the LeWM-VC compression and analytics pipeline. Immediate revenue from smart city design partners.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642938" y="3641582"/>
            <a:ext cx="707594" cy="142875"/>
          </a:xfrm>
          <a:prstGeom prst="roundRect">
            <a:avLst/>
          </a:prstGeom>
          <a:solidFill>
            <a:srgbClr val="06B6D4">
              <a:alpha val="1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642938" y="3641582"/>
            <a:ext cx="707594" cy="142875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06B6D4"/>
                </a:solidFill>
                <a:latin typeface="Exo 2 Bold" pitchFamily="34" charset="0"/>
                <a:ea typeface="Exo 2 Bold" pitchFamily="34" charset="-122"/>
                <a:cs typeface="Exo 2 Bold" pitchFamily="34" charset="-120"/>
              </a:rPr>
              <a:t>12–18 MONTHS</a:t>
            </a:r>
            <a:endParaRPr lang="en-US" sz="500" dirty="0"/>
          </a:p>
        </p:txBody>
      </p:sp>
      <p:sp>
        <p:nvSpPr>
          <p:cNvPr id="12" name="Shape 9"/>
          <p:cNvSpPr/>
          <p:nvPr/>
        </p:nvSpPr>
        <p:spPr>
          <a:xfrm>
            <a:off x="3248006" y="1284145"/>
            <a:ext cx="2647959" cy="2714625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3" name="Text 10"/>
          <p:cNvSpPr/>
          <p:nvPr/>
        </p:nvSpPr>
        <p:spPr>
          <a:xfrm>
            <a:off x="3462319" y="1577039"/>
            <a:ext cx="2219334" cy="94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b="1" spc="1" kern="0" dirty="0">
                <a:solidFill>
                  <a:srgbClr val="64748B"/>
                </a:solidFill>
                <a:latin typeface="Exo 2 Bold" pitchFamily="34" charset="0"/>
                <a:ea typeface="Exo 2 Bold" pitchFamily="34" charset="-122"/>
                <a:cs typeface="Exo 2 Bold" pitchFamily="34" charset="-120"/>
              </a:rPr>
              <a:t>MEDIUM TERM</a:t>
            </a:r>
            <a:endParaRPr lang="en-US" sz="550" dirty="0"/>
          </a:p>
        </p:txBody>
      </p:sp>
      <p:sp>
        <p:nvSpPr>
          <p:cNvPr id="14" name="Text 11"/>
          <p:cNvSpPr/>
          <p:nvPr/>
        </p:nvSpPr>
        <p:spPr>
          <a:xfrm>
            <a:off x="3462319" y="1778850"/>
            <a:ext cx="2219334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Exo 2 Bold" pitchFamily="34" charset="0"/>
                <a:ea typeface="Exo 2 Bold" pitchFamily="34" charset="-122"/>
                <a:cs typeface="Exo 2 Bold" pitchFamily="34" charset="-120"/>
              </a:rPr>
              <a:t>Codec SDK Licensing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462319" y="2227455"/>
            <a:ext cx="2219334" cy="640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Per-device royalty for hardware manufacturers (camera OEMs, NVR vendors) embedding LeWM-VC in firmware. Triggered by VCM standardization.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3462319" y="3641582"/>
            <a:ext cx="721882" cy="142875"/>
          </a:xfrm>
          <a:prstGeom prst="roundRect">
            <a:avLst/>
          </a:prstGeom>
          <a:solidFill>
            <a:srgbClr val="06B6D4">
              <a:alpha val="10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3462319" y="3641582"/>
            <a:ext cx="721882" cy="142875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06B6D4"/>
                </a:solidFill>
                <a:latin typeface="Exo 2 Bold" pitchFamily="34" charset="0"/>
                <a:ea typeface="Exo 2 Bold" pitchFamily="34" charset="-122"/>
                <a:cs typeface="Exo 2 Bold" pitchFamily="34" charset="-120"/>
              </a:rPr>
              <a:t>18–36 MONTHS</a:t>
            </a:r>
            <a:endParaRPr lang="en-US" sz="500" dirty="0"/>
          </a:p>
        </p:txBody>
      </p:sp>
      <p:sp>
        <p:nvSpPr>
          <p:cNvPr id="18" name="Shape 15"/>
          <p:cNvSpPr/>
          <p:nvPr/>
        </p:nvSpPr>
        <p:spPr>
          <a:xfrm>
            <a:off x="6067416" y="1284145"/>
            <a:ext cx="2647931" cy="2714625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9" name="Text 16"/>
          <p:cNvSpPr/>
          <p:nvPr/>
        </p:nvSpPr>
        <p:spPr>
          <a:xfrm>
            <a:off x="6281728" y="1577039"/>
            <a:ext cx="2219306" cy="94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b="1" spc="1" kern="0" dirty="0">
                <a:solidFill>
                  <a:srgbClr val="64748B"/>
                </a:solidFill>
                <a:latin typeface="Exo 2 Bold" pitchFamily="34" charset="0"/>
                <a:ea typeface="Exo 2 Bold" pitchFamily="34" charset="-122"/>
                <a:cs typeface="Exo 2 Bold" pitchFamily="34" charset="-120"/>
              </a:rPr>
              <a:t>LONG TERM</a:t>
            </a:r>
            <a:endParaRPr lang="en-US" sz="550" dirty="0"/>
          </a:p>
        </p:txBody>
      </p:sp>
      <p:sp>
        <p:nvSpPr>
          <p:cNvPr id="20" name="Text 17"/>
          <p:cNvSpPr/>
          <p:nvPr/>
        </p:nvSpPr>
        <p:spPr>
          <a:xfrm>
            <a:off x="6281728" y="1778850"/>
            <a:ext cx="2219306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Exo 2 Bold" pitchFamily="34" charset="0"/>
                <a:ea typeface="Exo 2 Bold" pitchFamily="34" charset="-122"/>
                <a:cs typeface="Exo 2 Bold" pitchFamily="34" charset="-120"/>
              </a:rPr>
              <a:t>Certification &amp; Consulting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281728" y="2227455"/>
            <a:ext cx="2219306" cy="640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Paid LeWM-Eval certification for codec vendors and consulting for VCM compliance. High-margin, recurring moat similar to the Dolby model.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6281728" y="3641582"/>
            <a:ext cx="737955" cy="142875"/>
          </a:xfrm>
          <a:prstGeom prst="roundRect">
            <a:avLst/>
          </a:prstGeom>
          <a:solidFill>
            <a:srgbClr val="0F172A">
              <a:alpha val="10000"/>
            </a:srgbClr>
          </a:solidFill>
          <a:ln/>
        </p:spPr>
      </p:sp>
      <p:sp>
        <p:nvSpPr>
          <p:cNvPr id="23" name="Text 20"/>
          <p:cNvSpPr/>
          <p:nvPr/>
        </p:nvSpPr>
        <p:spPr>
          <a:xfrm>
            <a:off x="6281728" y="3641582"/>
            <a:ext cx="737955" cy="142875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0F172A"/>
                </a:solidFill>
                <a:latin typeface="Exo 2 Bold" pitchFamily="34" charset="0"/>
                <a:ea typeface="Exo 2 Bold" pitchFamily="34" charset="-122"/>
                <a:cs typeface="Exo 2 Bold" pitchFamily="34" charset="-120"/>
              </a:rPr>
              <a:t>24–48 MONTHS</a:t>
            </a:r>
            <a:endParaRPr lang="en-US" sz="500" dirty="0"/>
          </a:p>
        </p:txBody>
      </p:sp>
      <p:sp>
        <p:nvSpPr>
          <p:cNvPr id="24" name="Shape 21"/>
          <p:cNvSpPr/>
          <p:nvPr/>
        </p:nvSpPr>
        <p:spPr>
          <a:xfrm>
            <a:off x="428625" y="4711303"/>
            <a:ext cx="8286750" cy="21788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428625" y="4711303"/>
            <a:ext cx="8286750" cy="7144"/>
          </a:xfrm>
          <a:prstGeom prst="rect">
            <a:avLst/>
          </a:prstGeom>
          <a:solidFill>
            <a:srgbClr val="ECECEE"/>
          </a:solidFill>
          <a:ln/>
        </p:spPr>
      </p:sp>
      <p:sp>
        <p:nvSpPr>
          <p:cNvPr id="26" name="Text 23"/>
          <p:cNvSpPr/>
          <p:nvPr/>
        </p:nvSpPr>
        <p:spPr>
          <a:xfrm>
            <a:off x="428625" y="4825603"/>
            <a:ext cx="794742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MAHAMAIA Systems</a:t>
            </a:r>
            <a:endParaRPr lang="en-US" sz="600" dirty="0"/>
          </a:p>
        </p:txBody>
      </p:sp>
      <p:sp>
        <p:nvSpPr>
          <p:cNvPr id="27" name="Text 24"/>
          <p:cNvSpPr/>
          <p:nvPr/>
        </p:nvSpPr>
        <p:spPr>
          <a:xfrm>
            <a:off x="8061722" y="4825603"/>
            <a:ext cx="653653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Seed Deck · 2026</a:t>
            </a:r>
            <a:endParaRPr lang="en-US" sz="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42863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1"/>
          <p:cNvSpPr/>
          <p:nvPr/>
        </p:nvSpPr>
        <p:spPr>
          <a:xfrm>
            <a:off x="428625" y="285750"/>
            <a:ext cx="778334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94A3B8"/>
                </a:solidFill>
                <a:latin typeface="Exo 2 SemiBold" pitchFamily="34" charset="0"/>
                <a:ea typeface="Exo 2 SemiBold" pitchFamily="34" charset="-122"/>
                <a:cs typeface="Exo 2 SemiBold" pitchFamily="34" charset="-120"/>
              </a:rPr>
              <a:t>11 // THE TEAM</a:t>
            </a:r>
            <a:endParaRPr lang="en-US" sz="600" dirty="0"/>
          </a:p>
        </p:txBody>
      </p:sp>
      <p:sp>
        <p:nvSpPr>
          <p:cNvPr id="5" name="Text 2"/>
          <p:cNvSpPr/>
          <p:nvPr/>
        </p:nvSpPr>
        <p:spPr>
          <a:xfrm>
            <a:off x="428625" y="638361"/>
            <a:ext cx="8286750" cy="3600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100" b="1" dirty="0">
                <a:solidFill>
                  <a:srgbClr val="0F172A"/>
                </a:solidFill>
                <a:latin typeface="Exo 2 Bold" pitchFamily="34" charset="0"/>
                <a:ea typeface="Exo 2 Bold" pitchFamily="34" charset="-122"/>
                <a:cs typeface="Exo 2 Bold" pitchFamily="34" charset="-120"/>
              </a:rPr>
              <a:t>Technical depth meets institutional access.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428625" y="1284145"/>
            <a:ext cx="4029075" cy="302895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7" name="Text 4"/>
          <p:cNvSpPr/>
          <p:nvPr/>
        </p:nvSpPr>
        <p:spPr>
          <a:xfrm>
            <a:off x="657225" y="1598470"/>
            <a:ext cx="3571875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1" kern="0" dirty="0">
                <a:solidFill>
                  <a:srgbClr val="64748B"/>
                </a:solidFill>
                <a:latin typeface="Exo 2 Bold" pitchFamily="34" charset="0"/>
                <a:ea typeface="Exo 2 Bold" pitchFamily="34" charset="-122"/>
                <a:cs typeface="Exo 2 Bold" pitchFamily="34" charset="-120"/>
              </a:rPr>
              <a:t>TECHNICAL LEADERSHIP</a:t>
            </a:r>
            <a:endParaRPr lang="en-US" sz="600" dirty="0"/>
          </a:p>
        </p:txBody>
      </p:sp>
      <p:sp>
        <p:nvSpPr>
          <p:cNvPr id="8" name="Text 5"/>
          <p:cNvSpPr/>
          <p:nvPr/>
        </p:nvSpPr>
        <p:spPr>
          <a:xfrm>
            <a:off x="657225" y="1809210"/>
            <a:ext cx="3571875" cy="241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Exo 2 Bold" pitchFamily="34" charset="0"/>
                <a:ea typeface="Exo 2 Bold" pitchFamily="34" charset="-122"/>
                <a:cs typeface="Exo 2 Bold" pitchFamily="34" charset="-120"/>
              </a:rPr>
              <a:t>Preetam Mukherjee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57225" y="2107462"/>
            <a:ext cx="3571875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Founder &amp; Lead Architect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657225" y="2416429"/>
            <a:ext cx="3571875" cy="160734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LeWM-VC Architecture &amp; Codec Design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57225" y="2677176"/>
            <a:ext cx="3571875" cy="160734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JEPA Implementation &amp; ML Optimization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657225" y="2937923"/>
            <a:ext cx="3571875" cy="160734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Open-Source Track Record &amp; Reproducibility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657225" y="3941620"/>
            <a:ext cx="1225879" cy="142875"/>
          </a:xfrm>
          <a:prstGeom prst="roundRect">
            <a:avLst/>
          </a:prstGeom>
          <a:solidFill>
            <a:srgbClr val="06B6D4">
              <a:alpha val="1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657225" y="3941620"/>
            <a:ext cx="1225879" cy="142875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06B6D4"/>
                </a:solidFill>
                <a:latin typeface="Exo 2 Bold" pitchFamily="34" charset="0"/>
                <a:ea typeface="Exo 2 Bold" pitchFamily="34" charset="-122"/>
                <a:cs typeface="Exo 2 Bold" pitchFamily="34" charset="-120"/>
              </a:rPr>
              <a:t>DEEP TECH INFRASTRUCTURE</a:t>
            </a:r>
            <a:endParaRPr lang="en-US" sz="500" dirty="0"/>
          </a:p>
        </p:txBody>
      </p:sp>
      <p:sp>
        <p:nvSpPr>
          <p:cNvPr id="15" name="Shape 12"/>
          <p:cNvSpPr/>
          <p:nvPr/>
        </p:nvSpPr>
        <p:spPr>
          <a:xfrm>
            <a:off x="4686300" y="1284145"/>
            <a:ext cx="4029075" cy="302895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6" name="Text 13"/>
          <p:cNvSpPr/>
          <p:nvPr/>
        </p:nvSpPr>
        <p:spPr>
          <a:xfrm>
            <a:off x="657225" y="2416429"/>
            <a:ext cx="32147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06B6D4"/>
                </a:solidFill>
                <a:latin typeface="Exo 2 Bold" pitchFamily="34" charset="0"/>
                <a:ea typeface="Exo 2 Bold" pitchFamily="34" charset="-122"/>
                <a:cs typeface="Exo 2 Bold" pitchFamily="34" charset="-120"/>
              </a:rPr>
              <a:t>›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657225" y="2677176"/>
            <a:ext cx="32147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06B6D4"/>
                </a:solidFill>
                <a:latin typeface="Exo 2 Bold" pitchFamily="34" charset="0"/>
                <a:ea typeface="Exo 2 Bold" pitchFamily="34" charset="-122"/>
                <a:cs typeface="Exo 2 Bold" pitchFamily="34" charset="-120"/>
              </a:rPr>
              <a:t>›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657225" y="2937923"/>
            <a:ext cx="32147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06B6D4"/>
                </a:solidFill>
                <a:latin typeface="Exo 2 Bold" pitchFamily="34" charset="0"/>
                <a:ea typeface="Exo 2 Bold" pitchFamily="34" charset="-122"/>
                <a:cs typeface="Exo 2 Bold" pitchFamily="34" charset="-120"/>
              </a:rPr>
              <a:t>›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4914900" y="1598470"/>
            <a:ext cx="3571875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1" kern="0" dirty="0">
                <a:solidFill>
                  <a:srgbClr val="64748B"/>
                </a:solidFill>
                <a:latin typeface="Exo 2 Bold" pitchFamily="34" charset="0"/>
                <a:ea typeface="Exo 2 Bold" pitchFamily="34" charset="-122"/>
                <a:cs typeface="Exo 2 Bold" pitchFamily="34" charset="-120"/>
              </a:rPr>
              <a:t>INSTITUTIONAL ACCESS</a:t>
            </a:r>
            <a:endParaRPr lang="en-US" sz="600" dirty="0"/>
          </a:p>
        </p:txBody>
      </p:sp>
      <p:sp>
        <p:nvSpPr>
          <p:cNvPr id="20" name="Text 17"/>
          <p:cNvSpPr/>
          <p:nvPr/>
        </p:nvSpPr>
        <p:spPr>
          <a:xfrm>
            <a:off x="4914900" y="1809210"/>
            <a:ext cx="3571875" cy="241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Exo 2 Bold" pitchFamily="34" charset="0"/>
                <a:ea typeface="Exo 2 Bold" pitchFamily="34" charset="-122"/>
                <a:cs typeface="Exo 2 Bold" pitchFamily="34" charset="-120"/>
              </a:rPr>
              <a:t>Strategic Moat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4914900" y="2107462"/>
            <a:ext cx="3571875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Partnerships &amp; Networks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4914900" y="2416429"/>
            <a:ext cx="3571875" cy="160734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64748B"/>
                </a:solidFill>
                <a:latin typeface="Exo 2 Bold" pitchFamily="34" charset="0"/>
                <a:ea typeface="Exo 2 Bold" pitchFamily="34" charset="-122"/>
                <a:cs typeface="Exo 2 Bold" pitchFamily="34" charset="-120"/>
              </a:rPr>
              <a:t>AMD:</a:t>
            </a:r>
            <a:r>
              <a:rPr lang="en-US" sz="800" dirty="0">
                <a:solidFill>
                  <a:srgbClr val="64748B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 MI300X Compute Partnership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4914900" y="2677176"/>
            <a:ext cx="3571875" cy="160734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64748B"/>
                </a:solidFill>
                <a:latin typeface="Exo 2 Bold" pitchFamily="34" charset="0"/>
                <a:ea typeface="Exo 2 Bold" pitchFamily="34" charset="-122"/>
                <a:cs typeface="Exo 2 Bold" pitchFamily="34" charset="-120"/>
              </a:rPr>
              <a:t>MPEG VCM:</a:t>
            </a:r>
            <a:r>
              <a:rPr lang="en-US" sz="800" dirty="0">
                <a:solidFill>
                  <a:srgbClr val="64748B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 Active Standardization Access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4914900" y="2937923"/>
            <a:ext cx="3571875" cy="160734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64748B"/>
                </a:solidFill>
                <a:latin typeface="Exo 2 Bold" pitchFamily="34" charset="0"/>
                <a:ea typeface="Exo 2 Bold" pitchFamily="34" charset="-122"/>
                <a:cs typeface="Exo 2 Bold" pitchFamily="34" charset="-120"/>
              </a:rPr>
              <a:t>Academic:</a:t>
            </a:r>
            <a:r>
              <a:rPr lang="en-US" sz="800" dirty="0">
                <a:solidFill>
                  <a:srgbClr val="64748B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 Global Research Network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>
            <a:off x="4914900" y="3941620"/>
            <a:ext cx="1250156" cy="142875"/>
          </a:xfrm>
          <a:prstGeom prst="roundRect">
            <a:avLst/>
          </a:prstGeom>
          <a:solidFill>
            <a:srgbClr val="0F172A">
              <a:alpha val="10000"/>
            </a:srgbClr>
          </a:solidFill>
          <a:ln/>
        </p:spPr>
      </p:sp>
      <p:sp>
        <p:nvSpPr>
          <p:cNvPr id="26" name="Text 23"/>
          <p:cNvSpPr/>
          <p:nvPr/>
        </p:nvSpPr>
        <p:spPr>
          <a:xfrm>
            <a:off x="4914900" y="3941620"/>
            <a:ext cx="1250156" cy="142875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0F172A"/>
                </a:solidFill>
                <a:latin typeface="Exo 2 Bold" pitchFamily="34" charset="0"/>
                <a:ea typeface="Exo 2 Bold" pitchFamily="34" charset="-122"/>
                <a:cs typeface="Exo 2 Bold" pitchFamily="34" charset="-120"/>
              </a:rPr>
              <a:t>ACTIVE SEARCH: CO-FOUNDER</a:t>
            </a:r>
            <a:endParaRPr lang="en-US" sz="500" dirty="0"/>
          </a:p>
        </p:txBody>
      </p:sp>
      <p:sp>
        <p:nvSpPr>
          <p:cNvPr id="27" name="Shape 24"/>
          <p:cNvSpPr/>
          <p:nvPr/>
        </p:nvSpPr>
        <p:spPr>
          <a:xfrm>
            <a:off x="428625" y="4711303"/>
            <a:ext cx="8286750" cy="21788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428625" y="4711303"/>
            <a:ext cx="8286750" cy="7144"/>
          </a:xfrm>
          <a:prstGeom prst="rect">
            <a:avLst/>
          </a:prstGeom>
          <a:solidFill>
            <a:srgbClr val="ECECEE"/>
          </a:solidFill>
          <a:ln/>
        </p:spPr>
      </p:sp>
      <p:sp>
        <p:nvSpPr>
          <p:cNvPr id="29" name="Text 26"/>
          <p:cNvSpPr/>
          <p:nvPr/>
        </p:nvSpPr>
        <p:spPr>
          <a:xfrm>
            <a:off x="4914900" y="2416429"/>
            <a:ext cx="32147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06B6D4"/>
                </a:solidFill>
                <a:latin typeface="Exo 2 Bold" pitchFamily="34" charset="0"/>
                <a:ea typeface="Exo 2 Bold" pitchFamily="34" charset="-122"/>
                <a:cs typeface="Exo 2 Bold" pitchFamily="34" charset="-120"/>
              </a:rPr>
              <a:t>›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914900" y="2677176"/>
            <a:ext cx="32147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06B6D4"/>
                </a:solidFill>
                <a:latin typeface="Exo 2 Bold" pitchFamily="34" charset="0"/>
                <a:ea typeface="Exo 2 Bold" pitchFamily="34" charset="-122"/>
                <a:cs typeface="Exo 2 Bold" pitchFamily="34" charset="-120"/>
              </a:rPr>
              <a:t>›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4914900" y="2937923"/>
            <a:ext cx="32147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06B6D4"/>
                </a:solidFill>
                <a:latin typeface="Exo 2 Bold" pitchFamily="34" charset="0"/>
                <a:ea typeface="Exo 2 Bold" pitchFamily="34" charset="-122"/>
                <a:cs typeface="Exo 2 Bold" pitchFamily="34" charset="-120"/>
              </a:rPr>
              <a:t>›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428625" y="4825603"/>
            <a:ext cx="794742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MAHAMAIA Systems</a:t>
            </a:r>
            <a:endParaRPr lang="en-US" sz="600" dirty="0"/>
          </a:p>
        </p:txBody>
      </p:sp>
      <p:sp>
        <p:nvSpPr>
          <p:cNvPr id="33" name="Text 30"/>
          <p:cNvSpPr/>
          <p:nvPr/>
        </p:nvSpPr>
        <p:spPr>
          <a:xfrm>
            <a:off x="8061722" y="4825603"/>
            <a:ext cx="653653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Seed Deck · 2026</a:t>
            </a:r>
            <a:endParaRPr lang="en-US" sz="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42863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1"/>
          <p:cNvSpPr/>
          <p:nvPr/>
        </p:nvSpPr>
        <p:spPr>
          <a:xfrm>
            <a:off x="428625" y="285750"/>
            <a:ext cx="708320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94A3B8"/>
                </a:solidFill>
                <a:latin typeface="Exo 2 SemiBold" pitchFamily="34" charset="0"/>
                <a:ea typeface="Exo 2 SemiBold" pitchFamily="34" charset="-122"/>
                <a:cs typeface="Exo 2 SemiBold" pitchFamily="34" charset="-120"/>
              </a:rPr>
              <a:t>12 // THE ASK</a:t>
            </a:r>
            <a:endParaRPr lang="en-US" sz="600" dirty="0"/>
          </a:p>
        </p:txBody>
      </p:sp>
      <p:sp>
        <p:nvSpPr>
          <p:cNvPr id="5" name="Text 2"/>
          <p:cNvSpPr/>
          <p:nvPr/>
        </p:nvSpPr>
        <p:spPr>
          <a:xfrm>
            <a:off x="428625" y="638361"/>
            <a:ext cx="8286750" cy="3600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100" b="1" dirty="0">
                <a:solidFill>
                  <a:srgbClr val="0F172A"/>
                </a:solidFill>
                <a:latin typeface="Exo 2 Bold" pitchFamily="34" charset="0"/>
                <a:ea typeface="Exo 2 Bold" pitchFamily="34" charset="-122"/>
                <a:cs typeface="Exo 2 Bold" pitchFamily="34" charset="-120"/>
              </a:rPr>
              <a:t>Building the Infrastructure of the Future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428625" y="1284145"/>
            <a:ext cx="8286750" cy="119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06B6D4"/>
                </a:solidFill>
                <a:latin typeface="Exo 2 Bold" pitchFamily="34" charset="0"/>
                <a:ea typeface="Exo 2 Bold" pitchFamily="34" charset="-122"/>
                <a:cs typeface="Exo 2 Bold" pitchFamily="34" charset="-120"/>
              </a:rPr>
              <a:t>SEED ROUND FUNDING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428625" y="1475240"/>
            <a:ext cx="828675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3300" b="1" dirty="0">
                <a:solidFill>
                  <a:srgbClr val="0F172A"/>
                </a:solidFill>
                <a:latin typeface="Exo 2 ExtraBold" pitchFamily="34" charset="0"/>
                <a:ea typeface="Exo 2 ExtraBold" pitchFamily="34" charset="-122"/>
                <a:cs typeface="Exo 2 ExtraBold" pitchFamily="34" charset="-120"/>
              </a:rPr>
              <a:t>$3,000,000 – $5,000,000</a:t>
            </a:r>
            <a:endParaRPr lang="en-US" sz="3300" dirty="0"/>
          </a:p>
        </p:txBody>
      </p:sp>
      <p:sp>
        <p:nvSpPr>
          <p:cNvPr id="8" name="Shape 5"/>
          <p:cNvSpPr/>
          <p:nvPr/>
        </p:nvSpPr>
        <p:spPr>
          <a:xfrm>
            <a:off x="428625" y="2218190"/>
            <a:ext cx="8286750" cy="960834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9" name="Text 6"/>
          <p:cNvSpPr/>
          <p:nvPr/>
        </p:nvSpPr>
        <p:spPr>
          <a:xfrm>
            <a:off x="657225" y="2446790"/>
            <a:ext cx="2495541" cy="308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Exo 2 ExtraBold" pitchFamily="34" charset="0"/>
                <a:ea typeface="Exo 2 ExtraBold" pitchFamily="34" charset="-122"/>
                <a:cs typeface="Exo 2 ExtraBold" pitchFamily="34" charset="-120"/>
              </a:rPr>
              <a:t>50%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399729" y="2827195"/>
            <a:ext cx="1010506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b="1" spc="1" kern="0" dirty="0">
                <a:solidFill>
                  <a:srgbClr val="0F172A"/>
                </a:solidFill>
                <a:latin typeface="Exo 2 Bold" pitchFamily="34" charset="0"/>
                <a:ea typeface="Exo 2 Bold" pitchFamily="34" charset="-122"/>
                <a:cs typeface="Exo 2 Bold" pitchFamily="34" charset="-120"/>
              </a:rPr>
              <a:t>ENGINEERING TEAM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3324216" y="2446790"/>
            <a:ext cx="2495541" cy="308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Exo 2 ExtraBold" pitchFamily="34" charset="0"/>
                <a:ea typeface="Exo 2 ExtraBold" pitchFamily="34" charset="-122"/>
                <a:cs typeface="Exo 2 ExtraBold" pitchFamily="34" charset="-120"/>
              </a:rPr>
              <a:t>30%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4119962" y="2827195"/>
            <a:ext cx="904047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b="1" spc="1" kern="0" dirty="0">
                <a:solidFill>
                  <a:srgbClr val="0F172A"/>
                </a:solidFill>
                <a:latin typeface="Exo 2 Bold" pitchFamily="34" charset="0"/>
                <a:ea typeface="Exo 2 Bold" pitchFamily="34" charset="-122"/>
                <a:cs typeface="Exo 2 Bold" pitchFamily="34" charset="-120"/>
              </a:rPr>
              <a:t>DATA &amp; COMPUTE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5991206" y="2446790"/>
            <a:ext cx="2495541" cy="308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Exo 2 ExtraBold" pitchFamily="34" charset="0"/>
                <a:ea typeface="Exo 2 ExtraBold" pitchFamily="34" charset="-122"/>
                <a:cs typeface="Exo 2 ExtraBold" pitchFamily="34" charset="-120"/>
              </a:rPr>
              <a:t>20%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794264" y="2827195"/>
            <a:ext cx="889397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b="1" spc="1" kern="0" dirty="0">
                <a:solidFill>
                  <a:srgbClr val="0F172A"/>
                </a:solidFill>
                <a:latin typeface="Exo 2 Bold" pitchFamily="34" charset="0"/>
                <a:ea typeface="Exo 2 Bold" pitchFamily="34" charset="-122"/>
                <a:cs typeface="Exo 2 Bold" pitchFamily="34" charset="-120"/>
              </a:rPr>
              <a:t>OPERATIONS &amp; IP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428625" y="3464775"/>
            <a:ext cx="3929063" cy="119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06B6D4"/>
                </a:solidFill>
                <a:latin typeface="Exo 2 Bold" pitchFamily="34" charset="0"/>
                <a:ea typeface="Exo 2 Bold" pitchFamily="34" charset="-122"/>
                <a:cs typeface="Exo 2 Bold" pitchFamily="34" charset="-120"/>
              </a:rPr>
              <a:t>18-MONTH MILESTONES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428625" y="3727307"/>
            <a:ext cx="3929063" cy="300038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0F172A"/>
                </a:solidFill>
                <a:latin typeface="Exo 2 Bold" pitchFamily="34" charset="0"/>
                <a:ea typeface="Exo 2 Bold" pitchFamily="34" charset="-122"/>
                <a:cs typeface="Exo 2 Bold" pitchFamily="34" charset="-120"/>
              </a:rPr>
              <a:t>Academic Leadership:</a:t>
            </a:r>
            <a:r>
              <a:rPr lang="en-US" sz="750" dirty="0">
                <a:solidFill>
                  <a:srgbClr val="64748B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 CVPR and NeurIPS 2027 submissions for LeWM-VC v2 and LeWM-Eval.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428625" y="4141645"/>
            <a:ext cx="3929063" cy="150019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0F172A"/>
                </a:solidFill>
                <a:latin typeface="Exo 2 Bold" pitchFamily="34" charset="0"/>
                <a:ea typeface="Exo 2 Bold" pitchFamily="34" charset="-122"/>
                <a:cs typeface="Exo 2 Bold" pitchFamily="34" charset="-120"/>
              </a:rPr>
              <a:t>Standard Adoption:</a:t>
            </a:r>
            <a:r>
              <a:rPr lang="en-US" sz="750" dirty="0">
                <a:solidFill>
                  <a:srgbClr val="64748B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 LeWM-Eval leaderboard with 15+ codecs across 3 institutions.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428625" y="3698732"/>
            <a:ext cx="6250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250" dirty="0">
                <a:solidFill>
                  <a:srgbClr val="06B6D4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•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28625" y="4113070"/>
            <a:ext cx="6250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250" dirty="0">
                <a:solidFill>
                  <a:srgbClr val="06B6D4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•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4786313" y="3727307"/>
            <a:ext cx="3929063" cy="150019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0F172A"/>
                </a:solidFill>
                <a:latin typeface="Exo 2 Bold" pitchFamily="34" charset="0"/>
                <a:ea typeface="Exo 2 Bold" pitchFamily="34" charset="-122"/>
                <a:cs typeface="Exo 2 Bold" pitchFamily="34" charset="-120"/>
              </a:rPr>
              <a:t>Commercial Traction:</a:t>
            </a:r>
            <a:r>
              <a:rPr lang="en-US" sz="750" dirty="0">
                <a:solidFill>
                  <a:srgbClr val="64748B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 First paying design partner or revenue-stage LOI secured.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4786313" y="3991626"/>
            <a:ext cx="3929063" cy="300038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0F172A"/>
                </a:solidFill>
                <a:latin typeface="Exo 2 Bold" pitchFamily="34" charset="0"/>
                <a:ea typeface="Exo 2 Bold" pitchFamily="34" charset="-122"/>
                <a:cs typeface="Exo 2 Bold" pitchFamily="34" charset="-120"/>
              </a:rPr>
              <a:t>Regulatory Influence:</a:t>
            </a:r>
            <a:r>
              <a:rPr lang="en-US" sz="750" dirty="0">
                <a:solidFill>
                  <a:srgbClr val="64748B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 MPEG VCM contribution acknowledged as reference implementation.</a:t>
            </a:r>
            <a:endParaRPr lang="en-US" sz="700" dirty="0"/>
          </a:p>
        </p:txBody>
      </p:sp>
      <p:sp>
        <p:nvSpPr>
          <p:cNvPr id="22" name="Shape 19"/>
          <p:cNvSpPr/>
          <p:nvPr/>
        </p:nvSpPr>
        <p:spPr>
          <a:xfrm>
            <a:off x="428625" y="4711303"/>
            <a:ext cx="8286750" cy="21788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428625" y="4711303"/>
            <a:ext cx="8286750" cy="7144"/>
          </a:xfrm>
          <a:prstGeom prst="rect">
            <a:avLst/>
          </a:prstGeom>
          <a:solidFill>
            <a:srgbClr val="ECECEE"/>
          </a:solidFill>
          <a:ln/>
        </p:spPr>
      </p:sp>
      <p:sp>
        <p:nvSpPr>
          <p:cNvPr id="24" name="Text 21"/>
          <p:cNvSpPr/>
          <p:nvPr/>
        </p:nvSpPr>
        <p:spPr>
          <a:xfrm>
            <a:off x="4786313" y="3698732"/>
            <a:ext cx="6250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250" dirty="0">
                <a:solidFill>
                  <a:srgbClr val="06B6D4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•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4786313" y="3963051"/>
            <a:ext cx="6250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250" dirty="0">
                <a:solidFill>
                  <a:srgbClr val="06B6D4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•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428625" y="4825603"/>
            <a:ext cx="794742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MAHAMAIA Systems</a:t>
            </a:r>
            <a:endParaRPr lang="en-US" sz="600" dirty="0"/>
          </a:p>
        </p:txBody>
      </p:sp>
      <p:sp>
        <p:nvSpPr>
          <p:cNvPr id="27" name="Text 24"/>
          <p:cNvSpPr/>
          <p:nvPr/>
        </p:nvSpPr>
        <p:spPr>
          <a:xfrm>
            <a:off x="8061722" y="4825603"/>
            <a:ext cx="653653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Seed Deck · 2026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2026-05-18T03:39:21Z</dcterms:created>
  <dcterms:modified xsi:type="dcterms:W3CDTF">2026-05-18T03:39:21Z</dcterms:modified>
</cp:coreProperties>
</file>